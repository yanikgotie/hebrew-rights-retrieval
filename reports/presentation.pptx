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0E8A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31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A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A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85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6E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FBD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TF-IDF</c:v>
                  </c:pt>
                  <c:pt idx="1">
                    <c:v>BM25</c:v>
                  </c:pt>
                  <c:pt idx="2">
                    <c:v>AlephBERT</c:v>
                  </c:pt>
                  <c:pt idx="3">
                    <c:v>Hybrid-RRF</c:v>
                  </c:pt>
                  <c:pt idx="4">
                    <c:v>Hybrid-wtd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0.618</c:v>
                </c:pt>
                <c:pt idx="1">
                  <c:v>0.612</c:v>
                </c:pt>
                <c:pt idx="2">
                  <c:v>0.579</c:v>
                </c:pt>
                <c:pt idx="3">
                  <c:v>0.668</c:v>
                </c:pt>
                <c:pt idx="4">
                  <c:v>0.653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531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5"/>
        </c:scaling>
        <c:delete val="0"/>
        <c:axPos val="l"/>
        <c:majorGridlines>
          <c:spPr>
            <a:ln w="6350" cap="flat">
              <a:solidFill>
                <a:srgbClr val="E7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</c:v>
                </c:pt>
              </c:strCache>
            </c:strRef>
          </c:tx>
          <c:spPr>
            <a:solidFill>
              <a:srgbClr val="0E8A8F"/>
            </a:solidFill>
            <a:ln w="38100" cap="flat">
              <a:solidFill>
                <a:srgbClr val="0E8A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A8F"/>
              </a:solidFill>
              <a:ln w="9525" cap="flat">
                <a:solidFill>
                  <a:srgbClr val="0E8A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0.475</c:v>
                </c:pt>
                <c:pt idx="1">
                  <c:v>0.725</c:v>
                </c:pt>
                <c:pt idx="2">
                  <c:v>0.825</c:v>
                </c:pt>
                <c:pt idx="3">
                  <c:v>0.85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AlephBERT</c:v>
                </c:pt>
              </c:strCache>
            </c:strRef>
          </c:tx>
          <c:spPr>
            <a:solidFill>
              <a:srgbClr val="E0852F"/>
            </a:solidFill>
            <a:ln w="38100" cap="flat">
              <a:solidFill>
                <a:srgbClr val="E08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852F"/>
              </a:solidFill>
              <a:ln w="9525" cap="flat">
                <a:solidFill>
                  <a:srgbClr val="E08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0.475</c:v>
                </c:pt>
                <c:pt idx="1">
                  <c:v>0.7</c:v>
                </c:pt>
                <c:pt idx="2">
                  <c:v>0.725</c:v>
                </c:pt>
                <c:pt idx="3">
                  <c:v>0.775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Hybrid-RRF</c:v>
                </c:pt>
              </c:strCache>
            </c:strRef>
          </c:tx>
          <c:spPr>
            <a:solidFill>
              <a:srgbClr val="0B3B45"/>
            </a:solidFill>
            <a:ln w="38100" cap="flat">
              <a:solidFill>
                <a:srgbClr val="0B3B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3B45"/>
              </a:solidFill>
              <a:ln w="9525" cap="flat">
                <a:solidFill>
                  <a:srgbClr val="0B3B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0.55</c:v>
                </c:pt>
                <c:pt idx="1">
                  <c:v>0.75</c:v>
                </c:pt>
                <c:pt idx="2">
                  <c:v>0.8</c:v>
                </c:pt>
                <c:pt idx="3">
                  <c:v>0.875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l"/>
        <c:majorGridlines>
          <c:spPr>
            <a:ln w="6350" cap="flat">
              <a:solidFill>
                <a:srgbClr val="E7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50415" y="4389120"/>
            <a:ext cx="1097280" cy="10972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93215" y="3931920"/>
            <a:ext cx="2011680" cy="20116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015" y="3474720"/>
            <a:ext cx="2926080" cy="29260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8815" y="3017520"/>
            <a:ext cx="3840480" cy="3840480"/>
          </a:xfrm>
          <a:prstGeom prst="ellipse">
            <a:avLst/>
          </a:prstGeom>
          <a:ln w="12700">
            <a:solidFill>
              <a:srgbClr val="5FBDB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7415" y="77724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99943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58975" y="868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גמר NLP  ·  מסלול 3 — פרויקט מבוסס-נתונים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3135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הנגשת זכויות חברתיות באמצעות NLP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53135" y="2834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i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אחזור סמנטי בעברית לשאלות על זכויות חברתיות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3135" y="361188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חיפוש מבוסס-משמעות מנצח חיפוש מבוסס-מילים בשאלות יומיומיות של אזרחים — והאם שילוב השניים מנצח את שניהם?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53135" y="5074920"/>
            <a:ext cx="3840480" cy="0"/>
          </a:xfrm>
          <a:prstGeom prst="line">
            <a:avLst/>
          </a:prstGeom>
          <a:noFill/>
          <a:ln w="19050">
            <a:solidFill>
              <a:srgbClr val="0E8A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3135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יניק גוטיה</a:t>
            </a:r>
            <a:pPr algn="r" indent="0" marL="0">
              <a:buNone/>
            </a:pPr>
            <a:r>
              <a:rPr lang="en-US" sz="1400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ת.ז. 318553526   ·   HIT   ·   ד"ר איגור קליינר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הפער בין איך שואלים לבין איך הזכויות מנוסחות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אזרחים מתארים את מצבם בשפה יומיומית ורגשית. המקורות הרשמיים עונים בעברית פורמלית-משפטית. חיפוש מבוסס-מילים נופל בדיוק בפער שביניהם.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8815" y="23317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" y="265176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282458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84655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אנשים שואלים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3135" y="32918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”פיטרו אותי מהעבודה, מה מגיע לי?“</a:t>
            </a:r>
            <a:endParaRPr lang="en-US" sz="16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”התינוק שלי מתעכב בהתפתחות, לאן פונים?“</a:t>
            </a:r>
            <a:endParaRPr lang="en-US" sz="16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”יש לי אוטו, זה פוסל אותי מקצבה?“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85255" y="233172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30975" y="265176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97" y="2824582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91095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המקורות מנוסחים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59575" y="32918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”זכאות לדמי אבטלה“</a:t>
            </a:r>
            <a:endParaRPr lang="en-US" sz="16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”אבחון רפואי התפתחותי לילדים“</a:t>
            </a:r>
            <a:endParaRPr lang="en-US" sz="16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”זכאות לגמלת הבטחת הכנסה ובעלות על רכב“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78815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i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אותה משמעות · לעיתים קרובות ללא מילים משותפות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שאלת המחקר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78815" y="9601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האם אחזור מבוסס-משמעות עוזר — והאם שילובו עם חיפוש מילים עוזר יותר?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110935" y="265176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76695" y="30175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A8F"/>
          </a:solidFill>
          <a:ln/>
        </p:spPr>
      </p:sp>
      <p:sp>
        <p:nvSpPr>
          <p:cNvPr id="8" name="Text 6"/>
          <p:cNvSpPr/>
          <p:nvPr/>
        </p:nvSpPr>
        <p:spPr>
          <a:xfrm>
            <a:off x="6476695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19695" y="3154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סמנטי &gt; לקסיקלי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85255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ההטמעות של AlephBERT מנצחות את TF-IDF, במיוחד כששאלה מנוסחת רחוק מנוסח המקור.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13055" y="265176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8815" y="30175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E8A8F"/>
          </a:solidFill>
          <a:ln/>
        </p:spPr>
      </p:sp>
      <p:sp>
        <p:nvSpPr>
          <p:cNvPr id="13" name="Text 11"/>
          <p:cNvSpPr/>
          <p:nvPr/>
        </p:nvSpPr>
        <p:spPr>
          <a:xfrm>
            <a:off x="578815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21815" y="3154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היברידי &gt; שניהם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7375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דירוגים לקסיקלי + סמנטי מנצח כל שיטה בודדת באיכות הדירוג (MRR, nDCG).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78815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ספוילר: השערה אחת מתאשרת, אחת נדחית — והניגוד הזה הוא הממצא.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סקירה כללית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צינור העיבוד מקצה לקצה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31375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25735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934" y="2645359"/>
            <a:ext cx="378562" cy="3785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31375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איסוף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795967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של כל-זכות + סריקת ביטוח לאומי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26651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360691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55051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251" y="2645359"/>
            <a:ext cx="378562" cy="3785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691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עיבוד מקדים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25283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ניקוי · טוקניזציה · מילות עצירה · חלוקה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55968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5090008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84368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67" y="2645359"/>
            <a:ext cx="378562" cy="3785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9000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אינדוקס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254600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BM25 · AlephBERT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85284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2819324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413684" y="2423160"/>
            <a:ext cx="822960" cy="82296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83" y="2645359"/>
            <a:ext cx="378562" cy="3785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819324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שילוב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2983916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היברידי: RRF + משוקלל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2514600" y="2926080"/>
            <a:ext cx="35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3000" dirty="0"/>
          </a:p>
        </p:txBody>
      </p:sp>
      <p:sp>
        <p:nvSpPr>
          <p:cNvPr id="31" name="Shape 25"/>
          <p:cNvSpPr/>
          <p:nvPr/>
        </p:nvSpPr>
        <p:spPr>
          <a:xfrm>
            <a:off x="548640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143000" y="2423160"/>
            <a:ext cx="822960" cy="8229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199" y="2645359"/>
            <a:ext cx="378562" cy="37856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864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הערכה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713232" y="38404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· MRR · nDCG · MAP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78815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הרצה בפקודה אחת:  </a:t>
            </a:r>
            <a:pPr algn="ctr" indent="0" marL="0">
              <a:buNone/>
            </a:pPr>
            <a:r>
              <a:rPr lang="en-US" sz="1400" b="1" dirty="0">
                <a:solidFill>
                  <a:srgbClr val="1531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src/run_all.py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נתונים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קורפוס עברי של זכויות שנאסף עצמאית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945575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45575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296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945575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מסמכים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38367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38367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138367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פסקאות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1159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1159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122,928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3331159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טוקנים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3951" y="16002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3951" y="1691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3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523951" y="2395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תחומי חיים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8815" y="3200400"/>
            <a:ext cx="5532120" cy="2834640"/>
          </a:xfrm>
          <a:prstGeom prst="roundRect">
            <a:avLst>
              <a:gd name="adj" fmla="val 2581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535" y="352044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3693262"/>
            <a:ext cx="294437" cy="29443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84655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כל-זכות  ·  מקור עיקרי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61695" y="42062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רשמי של MediaWiki שמחזיר טקסט נקי ומובנה</a:t>
            </a:r>
            <a:endParaRPr lang="en-US" sz="1350" dirty="0"/>
          </a:p>
          <a:p>
            <a:pPr algn="r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שש קטגוריות: נכות, אבטלה, בריאות, ילדים, הבטחת הכנסה, הורות</a:t>
            </a:r>
            <a:endParaRPr lang="en-US" sz="1350" dirty="0"/>
          </a:p>
          <a:p>
            <a:pPr algn="r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רישיון: CC-BY-SA (שימוש חוזר עם ייחוס)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293815" y="32004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93815" y="352044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637" y="3693262"/>
            <a:ext cx="294437" cy="29443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208215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ביטוח לאומי  ·  מקור משלים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6613855" y="42062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דפי זכאות נבחרים, #mainContent בלבד</a:t>
            </a:r>
            <a:endParaRPr lang="en-US" sz="1350" dirty="0"/>
          </a:p>
          <a:p>
            <a:pPr algn="r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נבדק robots.txt · קצב מוגבל · User-Agent מזוהה</a:t>
            </a:r>
            <a:endParaRPr lang="en-US" sz="1350" dirty="0"/>
          </a:p>
          <a:p>
            <a:pPr algn="r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מוסיף את המשלב הפורמלי המנוגד לכל-זכות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78815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 הערכה: 40 שאלות יומיומיות שחוברו ידנית, ממופות למסמכי אמת ומתויגות לפי פער-הניסוח.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קלאסי ·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מטקסט עברי גולמי לטוקנים נקיים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0255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פסקה עוברת שרשרת עיבוד מקדים קלאסית לפני האינדוקס הלקסיקלי.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8815" y="20574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DDE8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4535" y="2057400"/>
            <a:ext cx="2468880" cy="84124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גולמי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76295" y="2057400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...שכירים שפוטרו או התפטרו, כולל מי שעבדו בשני מקומות עבודה...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8815" y="302666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4535" y="3026664"/>
            <a:ext cx="2468880" cy="84124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נרמול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76295" y="3026664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הסרת ניקוד · הסרת פיסוק ולטינית · אותיות קטנות · צמצום רווחים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8815" y="39959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4535" y="3995928"/>
            <a:ext cx="2468880" cy="84124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טוקניזציה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76295" y="3995928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שכירים · שפוטרו · או · התפטרו · כולל · מי · שעבדו · בשני · מקומות · עבודה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8815" y="49651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535" y="4965192"/>
            <a:ext cx="2468880" cy="84124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הסרת מילות עצירה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76295" y="4965192"/>
            <a:ext cx="81381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הוסרו: או · מי · וכן · כדי · על · עד  ·  נותרו 26 מתוך 33 טוקנים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8815" y="6144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זרם הטוקנים הנקי מוזן למודלים הלקסיקליים TF-IDF ו-BM25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קלאסי ·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וקטוריזציה של הקורפוס עם TF-IDF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815" y="1645920"/>
            <a:ext cx="5074920" cy="4389120"/>
          </a:xfrm>
          <a:prstGeom prst="roundRect">
            <a:avLst>
              <a:gd name="adj" fmla="val 1667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3135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מטריצת מסמך–מונח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84855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צורה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5975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1,602 × 20,981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5975" y="2971800"/>
            <a:ext cx="475488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4855" y="3081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אוצר מילים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975" y="3081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20,981 מונחים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5975" y="3630168"/>
            <a:ext cx="475488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4855" y="37398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יוניגרמים / ביגרמים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975" y="37398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7,323 / 13,658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5975" y="4288536"/>
            <a:ext cx="475488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4855" y="43982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ערכים שאינם אפס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975" y="43982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141,493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5975" y="4946904"/>
            <a:ext cx="475488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4855" y="5056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דלילות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975" y="50566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99.58%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5975" y="5605272"/>
            <a:ext cx="4754880" cy="0"/>
          </a:xfrm>
          <a:prstGeom prst="line">
            <a:avLst/>
          </a:prstGeom>
          <a:noFill/>
          <a:ln w="9525">
            <a:solidFill>
              <a:srgbClr val="D7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82335" y="1645920"/>
            <a:ext cx="57607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73775" y="1874520"/>
            <a:ext cx="566928" cy="56692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846" y="2027591"/>
            <a:ext cx="260787" cy="26078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751015" y="1938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פסקה אחת כוקטור דליל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110935" y="2468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פסקה: ”דמי אבטלה“ — המונחים בעלי המשקל הגבוה ביותר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110935" y="2880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לחל ת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488375" y="28803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364675" y="2944368"/>
            <a:ext cx="1866900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2" name="Text 29"/>
          <p:cNvSpPr/>
          <p:nvPr/>
        </p:nvSpPr>
        <p:spPr>
          <a:xfrm>
            <a:off x="6110935" y="3337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לעבוד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8488375" y="33375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0.160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524695" y="3401568"/>
            <a:ext cx="1706880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5" name="Text 32"/>
          <p:cNvSpPr/>
          <p:nvPr/>
        </p:nvSpPr>
        <p:spPr>
          <a:xfrm>
            <a:off x="6110935" y="3794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בקצרה שכירים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8488375" y="37947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556699" y="3858768"/>
            <a:ext cx="1674876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38" name="Text 35"/>
          <p:cNvSpPr/>
          <p:nvPr/>
        </p:nvSpPr>
        <p:spPr>
          <a:xfrm>
            <a:off x="6110935" y="4251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בתנאים מסוימים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8488375" y="42519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556699" y="4315968"/>
            <a:ext cx="1674876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1" name="Text 38"/>
          <p:cNvSpPr/>
          <p:nvPr/>
        </p:nvSpPr>
        <p:spPr>
          <a:xfrm>
            <a:off x="6110935" y="4709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זכאי דמי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8488375" y="47091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556699" y="4773168"/>
            <a:ext cx="1674876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4" name="Text 41"/>
          <p:cNvSpPr/>
          <p:nvPr/>
        </p:nvSpPr>
        <p:spPr>
          <a:xfrm>
            <a:off x="6110935" y="5166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לשכירים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8488375" y="51663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0.157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556699" y="5230368"/>
            <a:ext cx="1674876" cy="256032"/>
          </a:xfrm>
          <a:prstGeom prst="roundRect">
            <a:avLst>
              <a:gd name="adj" fmla="val 14286"/>
            </a:avLst>
          </a:prstGeom>
          <a:solidFill>
            <a:srgbClr val="0E8A8F"/>
          </a:solidFill>
          <a:ln/>
        </p:spPr>
      </p:sp>
      <p:sp>
        <p:nvSpPr>
          <p:cNvPr id="47" name="Text 44"/>
          <p:cNvSpPr/>
          <p:nvPr/>
        </p:nvSpPr>
        <p:spPr>
          <a:xfrm>
            <a:off x="6202375" y="5440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פסקה = נקודה במרחב בן 20,981 ממדים; הדירוג = דמיון קוסינוס לוקטור השאילתה.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קלאסי ·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המורפולוגיה העברית מנפחת את אוצר המילים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העברית מדביקה מיליות (ב·ל·מ·ה·ו·ש·כ) לתחילת המילים, כך שאותו שורש מופיע בצורות רבות — אתגר אמיתי לחיפוש מבוסס-מילים.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8815" y="23774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0255" y="2697480"/>
            <a:ext cx="594360" cy="59436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732" y="2857957"/>
            <a:ext cx="273406" cy="2734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7495" y="27614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הסרת תחיליות קלה (הדגמת stemming)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15975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לעובדים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727655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59175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עובדים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5975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והמעסיק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727655" y="3931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59175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המעסיק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5975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כשעובד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727655" y="4434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59175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5975" y="4937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בתקופת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727655" y="4937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459175" y="4937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תקופת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5975" y="5440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מהמוסד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727655" y="5440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459175" y="5440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מוסד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93815" y="23774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751015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ההשפעה על אוצר המילים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494215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8,963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8808415" y="32004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6613855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13,415</a:t>
            </a:r>
            <a:endParaRPr lang="en-US" sz="4000" dirty="0"/>
          </a:p>
        </p:txBody>
      </p:sp>
      <p:sp>
        <p:nvSpPr>
          <p:cNvPr id="32" name="Text 29"/>
          <p:cNvSpPr/>
          <p:nvPr/>
        </p:nvSpPr>
        <p:spPr>
          <a:xfrm>
            <a:off x="6568135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סוגי מילים, לאחר הסרת תחילית אחת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568135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−33%</a:t>
            </a:r>
            <a:endParaRPr lang="en-US" sz="3400" dirty="0"/>
          </a:p>
        </p:txBody>
      </p:sp>
      <p:sp>
        <p:nvSpPr>
          <p:cNvPr id="34" name="Text 31"/>
          <p:cNvSpPr/>
          <p:nvPr/>
        </p:nvSpPr>
        <p:spPr>
          <a:xfrm>
            <a:off x="6568135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המורפולוגיה — לא הנושא — אחראית לרוב הדלילות. למטיזציה מלאה היא עבודה עתידית.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חמישה מאחזרים, ממשק אחד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31175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05495" y="212140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8317" y="2294230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91295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991295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בסיס לקסיקלי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87207" y="290779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קוסינוס דליל מעל מטריצת המונחים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72407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46727" y="212140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9" y="2294230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32527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132527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לקסיקלי (בונוס)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428439" y="290779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דירוג Okapi BM25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13639" y="18288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7959" y="2121408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2294230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73759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AlephBERT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273759" y="2505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סמנטי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69671" y="290779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הטמעות משפט בעברית, קוסינוס צפוף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110935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385255" y="427024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77" y="4443070"/>
            <a:ext cx="294437" cy="29443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71055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Hybrid-RRF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071055" y="4654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366967" y="505663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דירוגים הופכיים של לקסיקלי + סמנטי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2243023" y="3977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517343" y="4270248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0165" y="4443070"/>
            <a:ext cx="294437" cy="29443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03143" y="42336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Hybrid-wtd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3203143" y="4654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2499055" y="5056632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ציוני min-max: α·סמנטי + (1-α)·לקסיקלי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משלבים ומודדים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שילוב היברידי והמדדים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815" y="17373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4535" y="20574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223022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8935" y="2130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98855" y="283464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8855" y="2834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score(d) = Σ  1 / (k + rank_i(d))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53135" y="38862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מבוסס-דירוג — לא נדרש כיול ציונים</a:t>
            </a:r>
            <a:endParaRPr lang="en-US" sz="1400" dirty="0"/>
          </a:p>
          <a:p>
            <a:pPr algn="r"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מסמך שדורג גבוה ע"י אחד המודלים עולה</a:t>
            </a:r>
            <a:endParaRPr lang="en-US" sz="1400" dirty="0"/>
          </a:p>
          <a:p>
            <a:pPr algn="r"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נבדק גם שילוב ציונים משוקלל (min-max)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93815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93815" y="205740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637" y="2230222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08215" y="21305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מדדי הערכה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430975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214055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האם מסמך רלוונטי נמצא ב-top-k?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30975" y="3593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214055" y="3593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חלקי דירוג המסמך הרלוונטי הראשון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30975" y="4306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nDCG@10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214055" y="43068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מתגמל מסמכים רלוונטיים בדירוג גבוה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30975" y="50200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8214055" y="50200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דיוק ממוצע על פני כל הדירוג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30975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המדידה היא ברמת המסמך: פסקה נחשבת עבור הדף שאליו היא שייכת.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פרוטוקול הערכה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חלוקה לאימון · ולידציה · טסט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481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אחזור מידע, ולכן החלוקה היא ברמת השאילתה: הקורפוס משמש כאינדקס (נלמד ללא תוויות), ו-40 השאלות המתויגות מחולקות לולידציה ולטסט.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31175" y="22860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05495" y="256032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8317" y="273314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91295" y="25420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קורפוס · אינדקס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305495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296 מסמכים · 1,602 פסקאות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05495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תוויות — TF-IDF/BM25 נלמדים עליו ו-AlephBERT מקודד אותו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45559" y="22860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19879" y="256032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733142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05679" y="25420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ולידציה (dev)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519879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E8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שאלות · 35%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19879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בחירת מודל והיפר-פרמטרים (שיטת השילוב, k, α)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59943" y="22860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4263" y="2560320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2733142"/>
            <a:ext cx="294437" cy="29443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20063" y="25420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טסט (מוחזק)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734263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0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שאלות · 65%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34263" y="3657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מדדים סופיים ובלתי-מוטים — לא השפיעו על אף בחירה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78815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61695" y="5029200"/>
            <a:ext cx="10881360" cy="914400"/>
          </a:xfrm>
          <a:prstGeom prst="rect">
            <a:avLst/>
          </a:prstGeom>
          <a:noFill/>
          <a:ln/>
        </p:spPr>
        <p:txBody>
          <a:bodyPr wrap="square" lIns="3175" tIns="3175" rIns="3175" bIns="317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 הטסט המוחזק (26 שאלות) — MRR:   </a:t>
            </a:r>
            <a:pPr algn="r" indent="0" marL="0">
              <a:buNone/>
            </a:pPr>
            <a:r>
              <a:rPr lang="en-US" sz="14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Hybrid-RRF 0.690 · Hybrid-wtd 0.659 · BM25 0.606 · TF-IDF 0.603 · AlephBERT 0.585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78815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היתרון של ההיברידי נשמר — ואף גדל — על שאלות שלא השתתפו בשום בחירה.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השוואת חמשת המודלים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דירוג הדדי ממוצע (MRR)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04495" y="192024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095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640080"/>
                <a:gridCol w="640080"/>
                <a:gridCol w="685800"/>
                <a:gridCol w="640080"/>
                <a:gridCol w="64008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AlephBERT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9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Hybrid-RRF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Hybrid-wtd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248095" y="5532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שורה מודגשת = הטוב ביותר. Hybrid-RRF מוביל בכל מדדי הדירוג.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הממצא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70255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הסמנטי לבדו הפסיד. ההיברידי ניצח.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31175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3783" y="2240280"/>
            <a:ext cx="731520" cy="731520"/>
          </a:xfrm>
          <a:prstGeom prst="ellipse">
            <a:avLst/>
          </a:prstGeom>
          <a:solidFill>
            <a:srgbClr val="C2603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1294" y="243779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32927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נדחתה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68919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AlephBERT לבדו הוא המודל החלש ביותר — MRR 0.579, 9 מתוך 40 החטאות — ואינו מנצח את הלקסיקלי אפילו בשאלות עם פער-ניסוח גבוה (R@1 0.44 מול 0.48).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63847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6455" y="2240280"/>
            <a:ext cx="731520" cy="73152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966" y="243779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5599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אושרה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01591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Hybrid-RRF מוביל בכול: MRR 0.668, nDCG 0.704, והכי מעט החטאות (5/40). השילוב הוא המנצח המעשי.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96519" y="192024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9127" y="2240280"/>
            <a:ext cx="731520" cy="731520"/>
          </a:xfrm>
          <a:prstGeom prst="ellipse">
            <a:avLst/>
          </a:prstGeom>
          <a:solidFill>
            <a:srgbClr val="0B6E7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38" y="243779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8271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מדוע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34263" y="37033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המודלים נכשלים אחרת. הסמנטי מציל פראפרזות ללא מילים משותפות שהלקסיקלי לא; משולבים, נשמר הדיוק ונוסף כיסוי — משלימים, לא עדיפים.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· פירוט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ומבחן פער-הניסוח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8815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כתלות ב-k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04495" y="187452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110935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Recall@1 לפי פער-הניסוח  (מבחן H1)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9535" y="1965960"/>
          <a:ext cx="5257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097280"/>
                <a:gridCol w="68580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היברידי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AlephBERT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פער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נמוך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בינוני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6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31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גבוה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39535" y="41605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4E8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85255" y="4434840"/>
            <a:ext cx="566928" cy="56692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326" y="458791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99655" y="43434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אפילו בשאלות הקשות והמנוסחות-מחדש ביותר, הסמנטי אינו מקדים (0.44 מול 0.48). היתרון הסמנטי הצפוי פשוט אינו קיים במודל מדף זה.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· לכל שאילתה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היכן כל מודל מנצח, שאלה אחר שאלה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Image 0" descr="results/figures/winlos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607" y="1554480"/>
            <a:ext cx="2494488" cy="5120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50815" y="1920240"/>
            <a:ext cx="6492240" cy="3566160"/>
          </a:xfrm>
          <a:prstGeom prst="roundRect">
            <a:avLst>
              <a:gd name="adj" fmla="val 2051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16575" y="2148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כיצד לקרוא את מפת החום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25135" y="27889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שורה היא אחת מ-40 השאלות; הצבע = דירוג המסמך הנכון הראשון (ירוק = למעלה, אדום = עמוק, אפור = הוחמץ).</a:t>
            </a:r>
            <a:endParaRPr lang="en-US" sz="14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ירוקים ואפורים מתחלפים בין העמודות — המודלים מצליחים ונכשלים בשאלות שונות.</a:t>
            </a:r>
            <a:endParaRPr lang="en-US" sz="1450" dirty="0"/>
          </a:p>
          <a:p>
            <a:pPr algn="r" marL="342900" indent="-34290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אי-ההסכמה הזו היא בדיוק מה שהופך את השילוב למשתלם.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150815" y="566928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0B3B45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79415" y="56692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החטאות (מסמך האמת לא ב-top-10):   </a:t>
            </a:r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6   ·   AlephBERT 9   ·   היברידי 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שגיאות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שלוש תבניות, דוגמאות אמיתיות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815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4535" y="20574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7" y="223022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30375" y="1856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הסמנטי מנצח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630375" y="22951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מקרים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516575" y="18562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”חייבים להגיע ללשכת התעסוקה כל הזמן?“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516575" y="23500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אמת: התייצבות בשירות התעסוקה.  אפס מילים משותפות → לקסיקלי דירוג 4, סמנטי דירוג 1.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78815" y="317296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4535" y="3538728"/>
            <a:ext cx="640080" cy="640080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7" y="3711550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30375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הלקסיקלי מנצח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630375" y="3776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מקרים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16575" y="3337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”כיסא גלגלים ומכשירי שיקום?“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516575" y="38313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אמת: אביזרי ומכשירי שיקום.  מונח מדויק וחד → לקסיקלי דירוג 1, סמנטי מחמיץ.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78815" y="46542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4535" y="5020056"/>
            <a:ext cx="640080" cy="640080"/>
          </a:xfrm>
          <a:prstGeom prst="ellipse">
            <a:avLst/>
          </a:prstGeom>
          <a:solidFill>
            <a:srgbClr val="8A8F9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7" y="5192878"/>
            <a:ext cx="294437" cy="29443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30375" y="4818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שניהם נכשלים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630375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מקרים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516575" y="48188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”איך מקבלים קצבת נכות?“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516575" y="531266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הדף הקרוב ביותר הוא קצרמר של ביטוח לאומי, מוצף בדפי ”קביעת נכות“ ספציפיים.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בתוך המודל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כך נראה מרחב ההטמעות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Image 0" descr="results/figures/embedding_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18" y="1828800"/>
            <a:ext cx="5430901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88175" y="21031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25335" y="242316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57" y="25959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295" y="2487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t-SNE של וקטורי הפסקאות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253935" y="31089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הטמעות AlephBERT מוטלות ל-2 ממדים, צבועות לפי תחום חיים.</a:t>
            </a:r>
            <a:endParaRPr lang="en-US" sz="1350" dirty="0"/>
          </a:p>
          <a:p>
            <a:pPr algn="r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התחומים יוצרים אשכולות — המודל אכן לוכד משמעות נושאית.</a:t>
            </a:r>
            <a:endParaRPr lang="en-US" sz="1350" dirty="0"/>
          </a:p>
          <a:p>
            <a:pPr algn="r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5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אך האשכולות חופפים, ולכן דירוג עדין עדיין זקוק לאות הלקסיקלי.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502920"/>
            <a:ext cx="310896" cy="310896"/>
          </a:xfrm>
          <a:prstGeom prst="ellipse">
            <a:avLst/>
          </a:prstGeom>
          <a:ln w="25400">
            <a:solidFill>
              <a:srgbClr val="5FBD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603504"/>
            <a:ext cx="109728" cy="109728"/>
          </a:xfrm>
          <a:prstGeom prst="ellipse">
            <a:avLst/>
          </a:prstGeom>
          <a:solidFill>
            <a:srgbClr val="5FBDB6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5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מסקנות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70255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הפרויקט מראה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8815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9127" y="21945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887" y="237231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84655" y="2167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צינור IR עברי מלא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2279" y="2898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קורפוס שנאסף עצמאית → עיבוד מקדים → 5 מאחזרים → הערכה קפדנית, ניתן לשחזור מלא.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02375" y="18745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12687" y="21945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447" y="2372319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08215" y="21671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ההיברידי הוא ההמלצה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6485839" y="2898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המודל היחיד שמנצח את שני קווי הבסיס בכל מדדי הדירוג.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78815" y="40233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9127" y="434340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87" y="452115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84655" y="43159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מדף ≠ ניצחון חינם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862279" y="5047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מקודד עברי מבוסס masked-LM הוא משלים שימושי, לא שדרוג מיידי לאחזור.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02375" y="40233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12687" y="434340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447" y="4521159"/>
            <a:ext cx="302849" cy="3028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08215" y="43159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המשך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6485839" y="5047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מכוון-אחזור (E5), למטיזציה עברית, וסט הערכה גדול ומדורג יותר.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3871" y="457200"/>
            <a:ext cx="310896" cy="310896"/>
          </a:xfrm>
          <a:prstGeom prst="ellipse">
            <a:avLst/>
          </a:prstGeom>
          <a:ln w="25400">
            <a:solidFill>
              <a:srgbClr val="0E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4455" y="557784"/>
            <a:ext cx="109728" cy="109728"/>
          </a:xfrm>
          <a:prstGeom prst="ellipse">
            <a:avLst/>
          </a:prstGeom>
          <a:solidFill>
            <a:srgbClr val="0E8A8F"/>
          </a:solidFill>
          <a:ln/>
        </p:spPr>
      </p:sp>
      <p:sp>
        <p:nvSpPr>
          <p:cNvPr id="4" name="Text 2"/>
          <p:cNvSpPr/>
          <p:nvPr/>
        </p:nvSpPr>
        <p:spPr>
          <a:xfrm>
            <a:off x="2060143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0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אחראי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8815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אתיקה ומגבלות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8815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9127" y="210312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887" y="2280879"/>
            <a:ext cx="302849" cy="3028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84655" y="2057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נתונים ציבוריים ומורשים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6559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כל-זכות (CC-BY-SA) + מידע ציבורי של ביטוח לאומי. ללא מידע אישי, ללא סריקת תוכן משתמשים.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02375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AF4F4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12687" y="2103120"/>
            <a:ext cx="658368" cy="658368"/>
          </a:xfrm>
          <a:prstGeom prst="ellipse">
            <a:avLst/>
          </a:prstGeom>
          <a:solidFill>
            <a:srgbClr val="E0852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447" y="2280879"/>
            <a:ext cx="302849" cy="3028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8215" y="205740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אינו ייעוץ משפטי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40119" y="2788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אב-טיפוס מחקרי. שימוש אמיתי חייב להציג קישורי מקור ולהפנות לרשות המוסמכת.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78815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89127" y="42519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87" y="4429719"/>
            <a:ext cx="302849" cy="3028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84655" y="42062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הטיה וכיסוי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16559" y="49377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שישה תחומים בלבד; המורפולוגיה העברית פוגעת בלקסיקלי; ל-AlephBERT ייתכנו הטיות מקדם-אימון.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02375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4F9F9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12687" y="4251960"/>
            <a:ext cx="658368" cy="658368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447" y="4429719"/>
            <a:ext cx="302849" cy="30284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08215" y="42062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5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סט הערכה קטן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440119" y="49377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שאלות, מתייג יחיד: מצביע על מגמה, אך אינו מובהק סטטיסטית.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937760"/>
            <a:ext cx="1097280" cy="10972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57055" y="4480560"/>
            <a:ext cx="2011680" cy="20116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4023360"/>
            <a:ext cx="2926080" cy="29260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2655" y="3566160"/>
            <a:ext cx="3840480" cy="3840480"/>
          </a:xfrm>
          <a:prstGeom prst="ellipse">
            <a:avLst/>
          </a:prstGeom>
          <a:ln w="12700">
            <a:solidFill>
              <a:srgbClr val="5FBD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82735" y="731520"/>
            <a:ext cx="777240" cy="77724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2590" y="94137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3135" y="201168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תודה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53135" y="29718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i="1" dirty="0">
                <a:solidFill>
                  <a:srgbClr val="5FBD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אחזור סמנטי בעברית לשאלות על זכויות חברתיות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53135" y="37033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FC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github.com/YanikGotie/hebrew-rights-retrieval   ·   </a:t>
            </a:r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יניק גוטיה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53135" y="44805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0303A"/>
          </a:solidFill>
          <a:ln w="12700">
            <a:solidFill>
              <a:srgbClr val="DDE8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7415" y="4800600"/>
            <a:ext cx="640080" cy="640080"/>
          </a:xfrm>
          <a:prstGeom prst="ellipse">
            <a:avLst/>
          </a:prstGeom>
          <a:solidFill>
            <a:srgbClr val="0E8A8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7" y="497342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76095" y="4846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גילוי נאות על שימוש ב-AI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630375" y="528523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נעשה שימוש בעוזר AI ככלי לכתיבת קוד (תבניות, תיעוד, ניפוי שגיאות). תכנון המחקר, הנתונים, סט ההערכה והמסקנות הם של המחבר; כל הקוד נבדק והובן.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Hebrew Semantic Rights Retrieval</dc:title>
  <dc:subject>PptxGenJS Presentation</dc:subject>
  <dc:creator>Yanik Gotie</dc:creator>
  <cp:lastModifiedBy>Yanik Gotie</cp:lastModifiedBy>
  <cp:revision>1</cp:revision>
  <dcterms:created xsi:type="dcterms:W3CDTF">2026-06-28T08:30:03Z</dcterms:created>
  <dcterms:modified xsi:type="dcterms:W3CDTF">2026-06-28T08:30:03Z</dcterms:modified>
</cp:coreProperties>
</file>