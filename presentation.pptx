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0E8A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31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A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85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6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FBD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TF-IDF</c:v>
                  </c:pt>
                  <c:pt idx="1">
                    <c:v>BM25</c:v>
                  </c:pt>
                  <c:pt idx="2">
                    <c:v>AlephBERT</c:v>
                  </c:pt>
                  <c:pt idx="3">
                    <c:v>Hybrid-RRF</c:v>
                  </c:pt>
                  <c:pt idx="4">
                    <c:v>Hybrid-wtd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0.618</c:v>
                </c:pt>
                <c:pt idx="1">
                  <c:v>0.612</c:v>
                </c:pt>
                <c:pt idx="2">
                  <c:v>0.579</c:v>
                </c:pt>
                <c:pt idx="3">
                  <c:v>0.668</c:v>
                </c:pt>
                <c:pt idx="4">
                  <c:v>0.653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531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E7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</c:v>
                </c:pt>
              </c:strCache>
            </c:strRef>
          </c:tx>
          <c:spPr>
            <a:solidFill>
              <a:srgbClr val="0E8A8F"/>
            </a:solidFill>
            <a:ln w="38100" cap="flat">
              <a:solidFill>
                <a:srgbClr val="0E8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A8F"/>
              </a:solidFill>
              <a:ln w="9525" cap="flat">
                <a:solidFill>
                  <a:srgbClr val="0E8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0.475</c:v>
                </c:pt>
                <c:pt idx="1">
                  <c:v>0.725</c:v>
                </c:pt>
                <c:pt idx="2">
                  <c:v>0.825</c:v>
                </c:pt>
                <c:pt idx="3">
                  <c:v>0.85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AlephBERT</c:v>
                </c:pt>
              </c:strCache>
            </c:strRef>
          </c:tx>
          <c:spPr>
            <a:solidFill>
              <a:srgbClr val="E0852F"/>
            </a:solidFill>
            <a:ln w="38100" cap="flat">
              <a:solidFill>
                <a:srgbClr val="E08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852F"/>
              </a:solidFill>
              <a:ln w="9525" cap="flat">
                <a:solidFill>
                  <a:srgbClr val="E08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0.475</c:v>
                </c:pt>
                <c:pt idx="1">
                  <c:v>0.7</c:v>
                </c:pt>
                <c:pt idx="2">
                  <c:v>0.725</c:v>
                </c:pt>
                <c:pt idx="3">
                  <c:v>0.775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Hybrid-RRF</c:v>
                </c:pt>
              </c:strCache>
            </c:strRef>
          </c:tx>
          <c:spPr>
            <a:solidFill>
              <a:srgbClr val="0B3B45"/>
            </a:solidFill>
            <a:ln w="38100" cap="flat">
              <a:solidFill>
                <a:srgbClr val="0B3B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B45"/>
              </a:solidFill>
              <a:ln w="9525" cap="flat">
                <a:solidFill>
                  <a:srgbClr val="0B3B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0.55</c:v>
                </c:pt>
                <c:pt idx="1">
                  <c:v>0.75</c:v>
                </c:pt>
                <c:pt idx="2">
                  <c:v>0.8</c:v>
                </c:pt>
                <c:pt idx="3">
                  <c:v>0.875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C6B72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C6B72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l"/>
        <c:majorGridlines>
          <c:spPr>
            <a:ln w="6350" cap="flat">
              <a:solidFill>
                <a:srgbClr val="E7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5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389120"/>
            <a:ext cx="1097280" cy="10972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931920"/>
            <a:ext cx="2011680" cy="20116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474720"/>
            <a:ext cx="2926080" cy="29260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017520"/>
            <a:ext cx="3840480" cy="38404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999439"/>
            <a:ext cx="378562" cy="378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M.Sc. FINAL PROJECT  ·  TRACK 3 — DATA-DRIVEN NLP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הנגשת זכויות חברתיות באמצעות NLP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Semantic Retrieval for Social-Rights Questions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meaning-based search beat keyword search for citizens' everyday questions — and can fusing them beat both?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5074920"/>
            <a:ext cx="3840480" cy="0"/>
          </a:xfrm>
          <a:prstGeom prst="line">
            <a:avLst/>
          </a:prstGeom>
          <a:noFill/>
          <a:ln w="19050">
            <a:solidFill>
              <a:srgbClr val="0E8A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Yanik Gotie</a:t>
            </a:r>
            <a:pPr indent="0" marL="0">
              <a:buNone/>
            </a:pPr>
            <a:r>
              <a:rPr lang="en-US" sz="1400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ID 318553526   ·   HIT   ·   Dr. Igor Kleiner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between how people ask and how rights are written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describe their situation in plain, emotional language. Official sources answer in formal, legal-administrative Hebrew. Keyword search falls into the gap between them.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82458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ASK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3291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“פיטרו אותי מהעבודה, מה מגיע לי?”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“התינוק שלי מתעכב בהתפתחות, לאן פונים?”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“יש לי אוטו, זה פוסל אותי מקצבה?”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55080" y="23317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265176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282458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SOURCES ARE TITLED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75120" y="3291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“זכאות לדמי אבטלה”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“אבחון רפואי התפתחותי לילדים”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“זכאות לגמלת הבטחת הכנסה ובעלות על רכב”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meaning · often zero shared words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meaning-based retrieval help — and does combining it with keyword search help more?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017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A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57400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&gt; Lexical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sentence embeddings (AlephBERT) beat TF-IDF, especially when the question is phrased far from the source.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46520" y="2651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3017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A8F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55280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&gt; both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5800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lexical + semantic ranks beats either single method on ranking quality (MRR, nDCG).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one hypothesis holds, one does not — and that contrast is the finding.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199" y="2645359"/>
            <a:ext cx="378562" cy="3785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3232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Kol-Zchut API + Bituach Leumi scrape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14600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2819324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13684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83" y="2645359"/>
            <a:ext cx="378562" cy="3785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19324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Preprocess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983916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tokenize · stopwords · chunk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85284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5090008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7" y="2645359"/>
            <a:ext cx="378562" cy="3785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9000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Index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4600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BM25 · AlephBERT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055968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360691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55051" y="2423160"/>
            <a:ext cx="822960" cy="82296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251" y="2645359"/>
            <a:ext cx="378562" cy="3785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691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Fuse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525283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+ weighted hybrid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326651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9631375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225735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934" y="2645359"/>
            <a:ext cx="378562" cy="37856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631375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Evaluate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9795967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· MRR · nDCG · MAP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interface, one CLI:  </a:t>
            </a:r>
            <a:pPr algn="ctr" indent="0" marL="0">
              <a:buNone/>
            </a:pPr>
            <a:r>
              <a:rPr lang="en-US" sz="1400" b="1" dirty="0">
                <a:solidFill>
                  <a:srgbClr val="1531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src/run_all.py</a:t>
            </a:r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scrape → corpus → retrievers → metrics → figures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self-collected Hebrew rights corpus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355848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63056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122,928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163056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0264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70264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8970264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LIFE-DOMAINS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532120" cy="2834640"/>
          </a:xfrm>
          <a:prstGeom prst="roundRect">
            <a:avLst>
              <a:gd name="adj" fmla="val 2581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52044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3693262"/>
            <a:ext cx="294437" cy="29443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9164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Kol-Zchut  ·  primary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14400" y="42062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MediaWiki API → clean section text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categories: disability, unemployment, health, family, income-support, parenting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CC-BY-SA (reuse with attribution)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263640" y="32004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83680" y="352044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502" y="3693262"/>
            <a:ext cx="294437" cy="29443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0664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Bituach Leumi  ·  supplementary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6629400" y="42062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benefit pages, #mainContent only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robots.txt-checked · rate-limited · UA-identified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formal register that contrasts with Kol-Zchut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set: 40 hand-authored colloquial questions → ground-truth documents, tagged by phrasing-gap.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·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Hebrew to clean tokens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passage passes a textbook preprocessing chain before lexical indexing.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DDE8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5740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Raw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...שכירים שפוטרו או התפטרו, כולל מי שעבדו בשני מקומות עבודה...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02666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Normalize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3026664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niqqud [֑-ׇ] · drop punctuation/Latin · lowercase · collapse spaces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9959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Tokenize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995928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שכירים · שפוטרו · או · התפטרו · כולל · מי · שעבדו · בשני · מקומות · עבודה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651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96519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Remove stop-words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965192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או · מי · וכן · כדי · על · עד   →   33 tokens → 26 content tokens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 feeds TF-IDF &amp; BM25 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·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Vectorizing the corpus with TF-IDF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document–term matrix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1,602 × 20,981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2971800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20,981 terms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3630168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398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/ bigrams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7398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7,323 / 13,658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4288536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982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entries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43982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141,493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" y="4946904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56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5056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99.58 %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5605272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1645920"/>
            <a:ext cx="57607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874520"/>
            <a:ext cx="566928" cy="56692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5271" y="2027591"/>
            <a:ext cx="260787" cy="26078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58000" y="1938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passage as a sparse vector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172200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passage: “דמי אבטלה” — top weighted terms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126480" y="2880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לחל ת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485632" y="2880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189720" y="2944368"/>
            <a:ext cx="2178050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2" name="Text 29"/>
          <p:cNvSpPr/>
          <p:nvPr/>
        </p:nvSpPr>
        <p:spPr>
          <a:xfrm>
            <a:off x="6126480" y="3337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לעבוד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485632" y="33375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189720" y="3401568"/>
            <a:ext cx="1991360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5" name="Text 32"/>
          <p:cNvSpPr/>
          <p:nvPr/>
        </p:nvSpPr>
        <p:spPr>
          <a:xfrm>
            <a:off x="6126480" y="3794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בקצרה שכירים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485632" y="37947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189720" y="3858768"/>
            <a:ext cx="1954022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8" name="Text 35"/>
          <p:cNvSpPr/>
          <p:nvPr/>
        </p:nvSpPr>
        <p:spPr>
          <a:xfrm>
            <a:off x="6126480" y="4251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בתנאים מסוימים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8485632" y="42519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189720" y="4315968"/>
            <a:ext cx="1954022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1" name="Text 38"/>
          <p:cNvSpPr/>
          <p:nvPr/>
        </p:nvSpPr>
        <p:spPr>
          <a:xfrm>
            <a:off x="6126480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זכאי דמי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8485632" y="47091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189720" y="4773168"/>
            <a:ext cx="1954022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4" name="Text 41"/>
          <p:cNvSpPr/>
          <p:nvPr/>
        </p:nvSpPr>
        <p:spPr>
          <a:xfrm>
            <a:off x="6126480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לשכירים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8485632" y="5166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189720" y="5230368"/>
            <a:ext cx="1954022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7" name="Text 44"/>
          <p:cNvSpPr/>
          <p:nvPr/>
        </p:nvSpPr>
        <p:spPr>
          <a:xfrm>
            <a:off x="6172200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passage = a point in 20,981-dim space; ranking = cosine similarity to the query vector.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·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morphology inflates the vocabulary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glues particles (ב·ל·מ·ה·ו·ש·כ) onto words, so the same root appears as many surface forms — a real challenge for keyword matching.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97480"/>
            <a:ext cx="594360" cy="5943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57" y="2857957"/>
            <a:ext cx="273406" cy="2734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761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prefix-stripping (stemming demo)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440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לעובדים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3429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2900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עובדים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והמעסיק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880360" y="3931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2900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המעסיק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440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כשעובד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880360" y="4434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429000" y="4434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" y="4937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בתקופת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880360" y="4937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429000" y="4937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תקופת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4400" y="5440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מהמוסד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880360" y="5440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429000" y="5440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מוסד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63640" y="23774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8368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VOCABULARY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3200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13,415</a:t>
            </a:r>
            <a:pPr algn="l" indent="0" marL="0">
              <a:buNone/>
            </a:pPr>
            <a:r>
              <a:rPr lang="en-US" sz="2800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l" indent="0" marL="0">
              <a:buNone/>
            </a:pPr>
            <a:r>
              <a:rPr lang="en-US" sz="4000" b="1" dirty="0">
                <a:solidFill>
                  <a:srgbClr val="E0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8,963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6583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types  →  after stripping one prefix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8368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− 33 %</a:t>
            </a:r>
            <a:endParaRPr lang="en-US" sz="3400" dirty="0"/>
          </a:p>
        </p:txBody>
      </p:sp>
      <p:sp>
        <p:nvSpPr>
          <p:cNvPr id="32" name="Text 29"/>
          <p:cNvSpPr/>
          <p:nvPr/>
        </p:nvSpPr>
        <p:spPr>
          <a:xfrm>
            <a:off x="658368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— not topic — drives much of the sparsity. Full lemmatization is future work.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retrievers, one interface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2140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294230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00200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BASELINE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cosine over the term matrix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07408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1728" y="212140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550" y="2294230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58968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458968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(BONUS)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700016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 ranking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66176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40496" y="2121408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318" y="2294230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17736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AlephBERT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317736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558784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sentence embeddings, dense cosine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2468880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0" y="427024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22" y="4443070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20440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· RRF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3520440" y="4654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2761488" y="50566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reciprocal-rank fusion of lexical + semantic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336792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611112" y="427024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934" y="4443070"/>
            <a:ext cx="294437" cy="29443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88352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· weighted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7388352" y="4654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6629400" y="50566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score fusion α·sem + (1-α)·lex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FUSE &amp; MEASURE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fusion and the metrics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2302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83464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834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score(d) = Σ  1 / (k + rank_i(d))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3886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— no score calibration needed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 ranked high by either model rises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test weighted min-max score fusion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05740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502" y="223022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2130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8368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6676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relevant doc in the top-k?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83680" y="3593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366760" y="3593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rank of the first relevant doc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83680" y="4306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nDCG@10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366760" y="43068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relevant docs ranked higher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583680" y="5020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366760" y="5020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over the ranking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8368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at document level: a chunk counts for its parent page.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five models compare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Reciprocal Rank (MRR)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92024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40080"/>
                <a:gridCol w="640080"/>
                <a:gridCol w="685800"/>
                <a:gridCol w="640080"/>
                <a:gridCol w="640080"/>
                <a:gridCol w="594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AlephBERT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Hybrid-RRF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Hybrid-wtd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63640" y="5532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row = best. Hybrid-RRF leads every ranking metric.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alone lost. The hybrid won.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40280"/>
            <a:ext cx="731520" cy="731520"/>
          </a:xfrm>
          <a:prstGeom prst="ellipse">
            <a:avLst/>
          </a:prstGeom>
          <a:solidFill>
            <a:srgbClr val="C2603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4377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rejected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9536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alone is the weakest model — MRR 0.579, 9/40 misses — and does not beat lexical even on high phrasing-gap queries (R@1 0.44 vs 0.48).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15968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8576" y="2240280"/>
            <a:ext cx="731520" cy="73152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24377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8576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confirmed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26864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Hybrid-RRF leads everything: MRR 0.668, nDCG 0.704, fewest misses (5/40). Fusion is the practical winner.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83296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2240280"/>
            <a:ext cx="731520" cy="731520"/>
          </a:xfrm>
          <a:prstGeom prst="ellipse">
            <a:avLst/>
          </a:prstGeom>
          <a:solidFill>
            <a:srgbClr val="0B6E7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14" y="243779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94192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 fail differently. Semantic rescues zero-overlap paraphrases lexical can't; fused, we keep precision and add recall — complementary, not superior.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DETAIL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and the phrasing-gap test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vs. k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8745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Recall@1 by phrasing-gap  (H1 test)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65960"/>
          <a:ext cx="5257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"/>
                <a:gridCol w="1097280"/>
                <a:gridCol w="1280160"/>
                <a:gridCol w="822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AlephBERT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6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55080" y="41605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4434840"/>
            <a:ext cx="566928" cy="56692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471" y="458791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43434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the hardest, most-rephrased queries, semantic does not pull ahead (0.44 vs 0.48). The expected semantic advantage simply isn't there for this off-the-shelf model.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PER QUERY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model wins, query by query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results/figures/winlos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2427672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92024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heatmap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0" y="27889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of the 40 questions; color = rank of the first correct document (green = top, red = deep, grey = missed).</a:t>
            </a:r>
            <a:endParaRPr lang="en-US" sz="14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 and greys swap between columns — the two models succeed and fail on different queries.</a:t>
            </a:r>
            <a:endParaRPr lang="en-US" sz="14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disagreement is exactly what makes fusion pay off.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120640" y="566928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49240" y="56692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(gold not in top-10):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6   ·   AlephBERT 9   ·   Hybrid 5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patterns, real examples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2302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8562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Semantic wins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691640" y="2295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32120" y="18562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“חייבים להגיע ללשכת התעסוקה כל הזמן?”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32120" y="23500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התייצבות בשירות התעסוקה.  Zero shared words → lexical rank 4, semantic rank 1.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17296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3538728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2" y="3711550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3337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Lexical wins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691640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532120" y="3337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“כיסא גלגלים ומכשירי שיקום?”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32120" y="38313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אביזרי ומכשירי שיקום.  A sharp exact term → lexical rank 1, semantic misses.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6542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8680" y="5020056"/>
            <a:ext cx="640080" cy="640080"/>
          </a:xfrm>
          <a:prstGeom prst="ellipse">
            <a:avLst/>
          </a:prstGeom>
          <a:solidFill>
            <a:srgbClr val="8A8F9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5192878"/>
            <a:ext cx="294437" cy="29443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4818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Both fail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691640" y="5257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CASES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32120" y="48188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“איך מקבלים קצבת נכות?”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532120" y="531266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page is a short BTL stub, drowned by many specific קביעת-נכות pages.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embedding space looks like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Image 0" descr="results/figures/embedding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78509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21031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78040" y="242316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862" y="25959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0" y="2487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t-SNE of passage vectors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223760" y="3108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embeddings projected to 2-D, colored by life-domain.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form clusters — the model does capture topical meaning.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clusters overlap, which is why fine-grained ranking still needs the lexical signal.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shows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945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37231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671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Hebrew IR pipeline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59536" y="2898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corpus → preprocessing → 5 retrievers → rigorous evaluation, fully reproducible.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1945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67" y="237231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671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is the recommendation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6483096" y="2898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model that beats both baselines on every ranking metric.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34340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52115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3159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Off-the-shelf ≠ free win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59536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masked-LM Hebrew encoder is a useful complement, not a drop-in upgrade for retrieval.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4023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4808" y="434340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567" y="4521159"/>
            <a:ext cx="302849" cy="3028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3159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6483096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Retrieval-tuned model (E5), Hebrew lemmatization, larger graded eval set.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98755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NLP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limitations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10312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280879"/>
            <a:ext cx="302849" cy="3028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57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licensed data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9536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Kol-Zchut (CC-BY-SA) + public BTL info. No personal data, no scraping of user content.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4808" y="2103120"/>
            <a:ext cx="658368" cy="65836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67" y="2280879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2057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legal advice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83096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prototype. Real use must show source links and defer to the authority.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" y="42519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429719"/>
            <a:ext cx="302849" cy="3028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206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coverage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59536" y="4937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domains only; Hebrew morphology penalizes lexical models; AlephBERT may carry pre-training bias.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64808" y="42519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567" y="4429719"/>
            <a:ext cx="302849" cy="3028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4206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eval set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483096" y="4937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single-annotator questions: indicative, not statistically tight.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4937760"/>
            <a:ext cx="1097280" cy="10972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4480560"/>
            <a:ext cx="2011680" cy="20116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023360"/>
            <a:ext cx="2926080" cy="29260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" y="3566160"/>
            <a:ext cx="3840480" cy="38404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731520"/>
            <a:ext cx="777240" cy="77724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415" y="94137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Semantic Retrieval for Social-Rights Questions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Yanik Gotie</a:t>
            </a:r>
            <a:pPr indent="0" marL="0">
              <a:buNone/>
            </a:pPr>
            <a:r>
              <a:rPr lang="en-US" sz="1400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github.com/YanikGotie/hebrew-rights-retrieval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4805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43000" y="48006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22" y="497342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4846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Usage Disclosure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5285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was used as a code-writing helper (boilerplate, docstrings, debugging). Research design, data, evaluation set, and conclusions are the author's own; all code was reviewed and is understood.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Hebrew Semantic Rights Retrieval</dc:title>
  <dc:subject>PptxGenJS Presentation</dc:subject>
  <dc:creator>Yanik Gotie</dc:creator>
  <cp:lastModifiedBy>Yanik Gotie</cp:lastModifiedBy>
  <cp:revision>1</cp:revision>
  <dcterms:created xsi:type="dcterms:W3CDTF">2026-06-27T18:31:28Z</dcterms:created>
  <dcterms:modified xsi:type="dcterms:W3CDTF">2026-06-27T18:31:28Z</dcterms:modified>
</cp:coreProperties>
</file>