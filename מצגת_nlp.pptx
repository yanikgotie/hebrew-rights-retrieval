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</c:v>
                </c:pt>
              </c:strCache>
            </c:strRef>
          </c:tx>
          <c:spPr>
            <a:solidFill>
              <a:srgbClr val="0E8A8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5313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8A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8A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852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B6E7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FBDB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TF-IDF</c:v>
                  </c:pt>
                  <c:pt idx="1">
                    <c:v>BM25</c:v>
                  </c:pt>
                  <c:pt idx="2">
                    <c:v>AlephBERT</c:v>
                  </c:pt>
                  <c:pt idx="3">
                    <c:v>Hybrid-RRF</c:v>
                  </c:pt>
                  <c:pt idx="4">
                    <c:v>Hybrid-wtd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0.618</c:v>
                </c:pt>
                <c:pt idx="1">
                  <c:v>0.612</c:v>
                </c:pt>
                <c:pt idx="2">
                  <c:v>0.579</c:v>
                </c:pt>
                <c:pt idx="3">
                  <c:v>0.668</c:v>
                </c:pt>
                <c:pt idx="4">
                  <c:v>0.653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5313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.5"/>
        </c:scaling>
        <c:delete val="0"/>
        <c:axPos val="l"/>
        <c:majorGridlines>
          <c:spPr>
            <a:ln w="6350" cap="flat">
              <a:solidFill>
                <a:srgbClr val="E7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TF-IDF</c:v>
                </c:pt>
              </c:strCache>
            </c:strRef>
          </c:tx>
          <c:spPr>
            <a:solidFill>
              <a:srgbClr val="0E8A8F"/>
            </a:solidFill>
            <a:ln w="38100" cap="flat">
              <a:solidFill>
                <a:srgbClr val="0E8A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8A8F"/>
              </a:solidFill>
              <a:ln w="9525" cap="flat">
                <a:solidFill>
                  <a:srgbClr val="0E8A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10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0.475</c:v>
                </c:pt>
                <c:pt idx="1">
                  <c:v>0.725</c:v>
                </c:pt>
                <c:pt idx="2">
                  <c:v>0.825</c:v>
                </c:pt>
                <c:pt idx="3">
                  <c:v>0.85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AlephBERT</c:v>
                </c:pt>
              </c:strCache>
            </c:strRef>
          </c:tx>
          <c:spPr>
            <a:solidFill>
              <a:srgbClr val="E0852F"/>
            </a:solidFill>
            <a:ln w="38100" cap="flat">
              <a:solidFill>
                <a:srgbClr val="E085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852F"/>
              </a:solidFill>
              <a:ln w="9525" cap="flat">
                <a:solidFill>
                  <a:srgbClr val="E085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10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0.475</c:v>
                </c:pt>
                <c:pt idx="1">
                  <c:v>0.7</c:v>
                </c:pt>
                <c:pt idx="2">
                  <c:v>0.725</c:v>
                </c:pt>
                <c:pt idx="3">
                  <c:v>0.775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Hybrid-RRF</c:v>
                </c:pt>
              </c:strCache>
            </c:strRef>
          </c:tx>
          <c:spPr>
            <a:solidFill>
              <a:srgbClr val="0B3B45"/>
            </a:solidFill>
            <a:ln w="38100" cap="flat">
              <a:solidFill>
                <a:srgbClr val="0B3B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B3B45"/>
              </a:solidFill>
              <a:ln w="9525" cap="flat">
                <a:solidFill>
                  <a:srgbClr val="0B3B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10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0.55</c:v>
                </c:pt>
                <c:pt idx="1">
                  <c:v>0.75</c:v>
                </c:pt>
                <c:pt idx="2">
                  <c:v>0.8</c:v>
                </c:pt>
                <c:pt idx="3">
                  <c:v>0.875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4"/>
        </c:scaling>
        <c:delete val="0"/>
        <c:axPos val="l"/>
        <c:majorGridlines>
          <c:spPr>
            <a:ln w="6350" cap="flat">
              <a:solidFill>
                <a:srgbClr val="E7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B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50415" y="4389120"/>
            <a:ext cx="1097280" cy="1097280"/>
          </a:xfrm>
          <a:prstGeom prst="ellipse">
            <a:avLst/>
          </a:prstGeom>
          <a:ln w="12700">
            <a:solidFill>
              <a:srgbClr val="5FBDB6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93215" y="3931920"/>
            <a:ext cx="2011680" cy="2011680"/>
          </a:xfrm>
          <a:prstGeom prst="ellipse">
            <a:avLst/>
          </a:prstGeom>
          <a:ln w="12700">
            <a:solidFill>
              <a:srgbClr val="5FBDB6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6015" y="3474720"/>
            <a:ext cx="2926080" cy="2926080"/>
          </a:xfrm>
          <a:prstGeom prst="ellipse">
            <a:avLst/>
          </a:prstGeom>
          <a:ln w="12700">
            <a:solidFill>
              <a:srgbClr val="5FBDB6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8815" y="3017520"/>
            <a:ext cx="3840480" cy="3840480"/>
          </a:xfrm>
          <a:prstGeom prst="ellipse">
            <a:avLst/>
          </a:prstGeom>
          <a:ln w="12700">
            <a:solidFill>
              <a:srgbClr val="5FBDB6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7415" y="777240"/>
            <a:ext cx="822960" cy="82296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" y="999439"/>
            <a:ext cx="378562" cy="3785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58975" y="8686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5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פרויקט גמר NLP  ·  מסלול 3 — פרויקט מבוסס-נתונים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53135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הנגשת זכויות חברתיות באמצעות NLP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53135" y="2834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i="1" dirty="0">
                <a:solidFill>
                  <a:srgbClr val="5FBD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אחזור סמנטי בעברית לשאלות על זכויות חברתיות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53135" y="361188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האם חיפוש מבוסס-משמעות מנצח חיפוש מבוסס-מילים בשאלות יומיומיות של אזרחים — והאם שילוב השניים מנצח את שניהם?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53135" y="5074920"/>
            <a:ext cx="3840480" cy="0"/>
          </a:xfrm>
          <a:prstGeom prst="line">
            <a:avLst/>
          </a:prstGeom>
          <a:noFill/>
          <a:ln w="19050">
            <a:solidFill>
              <a:srgbClr val="0E8A8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3135" y="5212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יניק גוטיה</a:t>
            </a:r>
            <a:pPr algn="r" indent="0" marL="0">
              <a:buNone/>
            </a:pPr>
            <a:r>
              <a:rPr lang="en-US" sz="1400" dirty="0">
                <a:solidFill>
                  <a:srgbClr val="AFC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ת.ז. 318553526   ·   HIT   ·   ד"ר איגור קליינר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הבעיה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8815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הפער בין איך שואלים לבין איך הזכויות מנוסחות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8815" y="14813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אזרחים מתארים את מצבם בשפה יומיומית ורגשית. המקורות הרשמיים עונים בעברית פורמלית-משפטית. חיפוש מבוסס-מילים נופל בדיוק בפער שביניהם.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8815" y="2331720"/>
            <a:ext cx="5257800" cy="2926080"/>
          </a:xfrm>
          <a:prstGeom prst="roundRect">
            <a:avLst>
              <a:gd name="adj" fmla="val 2500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535" y="2651760"/>
            <a:ext cx="640080" cy="640080"/>
          </a:xfrm>
          <a:prstGeom prst="ellipse">
            <a:avLst/>
          </a:prstGeom>
          <a:solidFill>
            <a:srgbClr val="E0852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7" y="2824582"/>
            <a:ext cx="294437" cy="29443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84655" y="27614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E0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איך אנשים שואלים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53135" y="32918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”פיטרו אותי מהעבודה, מה מגיע לי?“</a:t>
            </a:r>
            <a:endParaRPr lang="en-US" sz="16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”התינוק שלי מתעכב בהתפתחות, לאן פונים?“</a:t>
            </a:r>
            <a:endParaRPr lang="en-US" sz="16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”יש לי אוטו, זה פוסל אותי מקצבה?“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385255" y="2331720"/>
            <a:ext cx="5257800" cy="2926080"/>
          </a:xfrm>
          <a:prstGeom prst="roundRect">
            <a:avLst>
              <a:gd name="adj" fmla="val 2500"/>
            </a:avLst>
          </a:prstGeom>
          <a:solidFill>
            <a:srgbClr val="EAF4F4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30975" y="2651760"/>
            <a:ext cx="640080" cy="64008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797" y="2824582"/>
            <a:ext cx="294437" cy="29443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91095" y="27614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איך המקורות מנוסחים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659575" y="32918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”זכאות לדמי אבטלה“</a:t>
            </a:r>
            <a:endParaRPr lang="en-US" sz="16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”אבחון רפואי התפתחותי לילדים“</a:t>
            </a:r>
            <a:endParaRPr lang="en-US" sz="16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”זכאות לגמלת הבטחת הכנסה ובעלות על רכב“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78815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i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אותה משמעות · לעיתים קרובות ללא מילים משותפות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502920"/>
            <a:ext cx="310896" cy="310896"/>
          </a:xfrm>
          <a:prstGeom prst="ellipse">
            <a:avLst/>
          </a:prstGeom>
          <a:ln w="25400">
            <a:solidFill>
              <a:srgbClr val="5FBD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603504"/>
            <a:ext cx="109728" cy="109728"/>
          </a:xfrm>
          <a:prstGeom prst="ellipse">
            <a:avLst/>
          </a:prstGeom>
          <a:solidFill>
            <a:srgbClr val="5FBDB6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5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שאלת המחקר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78815" y="96012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האם אחזור מבוסס-משמעות עוזר — והאם שילובו עם חיפוש מילים עוזר יותר?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110935" y="2651760"/>
            <a:ext cx="5532120" cy="3200400"/>
          </a:xfrm>
          <a:prstGeom prst="roundRect">
            <a:avLst>
              <a:gd name="adj" fmla="val 2286"/>
            </a:avLst>
          </a:prstGeom>
          <a:solidFill>
            <a:srgbClr val="0B3B45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76695" y="301752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0E8A8F"/>
          </a:solidFill>
          <a:ln/>
        </p:spPr>
      </p:sp>
      <p:sp>
        <p:nvSpPr>
          <p:cNvPr id="8" name="Text 6"/>
          <p:cNvSpPr/>
          <p:nvPr/>
        </p:nvSpPr>
        <p:spPr>
          <a:xfrm>
            <a:off x="6476695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619695" y="3154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2100" b="1" dirty="0">
                <a:solidFill>
                  <a:srgbClr val="5FBD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סמנטי &gt; לקסיקלי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385255" y="41605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ההטמעות של AlephBERT מנצחות את TF-IDF, במיוחד כששאלה מנוסחת רחוק מנוסח המקור.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13055" y="2651760"/>
            <a:ext cx="5532120" cy="3200400"/>
          </a:xfrm>
          <a:prstGeom prst="roundRect">
            <a:avLst>
              <a:gd name="adj" fmla="val 2286"/>
            </a:avLst>
          </a:prstGeom>
          <a:solidFill>
            <a:srgbClr val="0B3B45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8815" y="301752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0E8A8F"/>
          </a:solidFill>
          <a:ln/>
        </p:spPr>
      </p:sp>
      <p:sp>
        <p:nvSpPr>
          <p:cNvPr id="13" name="Text 11"/>
          <p:cNvSpPr/>
          <p:nvPr/>
        </p:nvSpPr>
        <p:spPr>
          <a:xfrm>
            <a:off x="578815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21815" y="3154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2100" b="1" dirty="0">
                <a:solidFill>
                  <a:srgbClr val="5FBD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היברידי &gt; שניהם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87375" y="41605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שילוב דירוגים לקסיקלי + סמנטי מנצח כל שיטה בודדת באיכות הדירוג (MRR, nDCG).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78815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i="1" dirty="0">
                <a:solidFill>
                  <a:srgbClr val="E0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ספוילר: השערה אחת מתאשרת, אחת נדחית — והניגוד הזה הוא הממצא.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סקירה כללית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8815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צינור העיבוד מקצה לקצה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31375" y="210312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225735" y="2423160"/>
            <a:ext cx="822960" cy="82296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7934" y="2645359"/>
            <a:ext cx="378562" cy="37856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31375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איסוף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795967" y="3840480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של כל-זכות + סריקת ביטוח לאומי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326651" y="2926080"/>
            <a:ext cx="3504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5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7360691" y="210312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955051" y="2423160"/>
            <a:ext cx="822960" cy="82296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251" y="2645359"/>
            <a:ext cx="378562" cy="37856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60691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עיבוד מקדים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525283" y="3840480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ניקוי · טוקניזציה · מילות עצירה · חלוקה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055968" y="2926080"/>
            <a:ext cx="3504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5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3000" dirty="0"/>
          </a:p>
        </p:txBody>
      </p:sp>
      <p:sp>
        <p:nvSpPr>
          <p:cNvPr id="19" name="Shape 15"/>
          <p:cNvSpPr/>
          <p:nvPr/>
        </p:nvSpPr>
        <p:spPr>
          <a:xfrm>
            <a:off x="5090008" y="210312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684368" y="2423160"/>
            <a:ext cx="822960" cy="82296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567" y="2645359"/>
            <a:ext cx="378562" cy="37856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090008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אינדוקס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5254600" y="3840480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· BM25 · AlephBERT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785284" y="2926080"/>
            <a:ext cx="3504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5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3000" dirty="0"/>
          </a:p>
        </p:txBody>
      </p:sp>
      <p:sp>
        <p:nvSpPr>
          <p:cNvPr id="25" name="Shape 20"/>
          <p:cNvSpPr/>
          <p:nvPr/>
        </p:nvSpPr>
        <p:spPr>
          <a:xfrm>
            <a:off x="2819324" y="210312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FF4E8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413684" y="2423160"/>
            <a:ext cx="822960" cy="822960"/>
          </a:xfrm>
          <a:prstGeom prst="ellipse">
            <a:avLst/>
          </a:prstGeom>
          <a:solidFill>
            <a:srgbClr val="E0852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83" y="2645359"/>
            <a:ext cx="378562" cy="37856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819324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שילוב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2983916" y="3840480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היברידי RRF + משוקלל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2514600" y="2926080"/>
            <a:ext cx="3504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5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3000" dirty="0"/>
          </a:p>
        </p:txBody>
      </p:sp>
      <p:sp>
        <p:nvSpPr>
          <p:cNvPr id="31" name="Shape 25"/>
          <p:cNvSpPr/>
          <p:nvPr/>
        </p:nvSpPr>
        <p:spPr>
          <a:xfrm>
            <a:off x="548640" y="210312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1143000" y="2423160"/>
            <a:ext cx="822960" cy="82296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5199" y="2645359"/>
            <a:ext cx="378562" cy="37856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48640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הערכה</a:t>
            </a:r>
            <a:endParaRPr lang="en-US" sz="1700" dirty="0"/>
          </a:p>
        </p:txBody>
      </p:sp>
      <p:sp>
        <p:nvSpPr>
          <p:cNvPr id="35" name="Text 28"/>
          <p:cNvSpPr/>
          <p:nvPr/>
        </p:nvSpPr>
        <p:spPr>
          <a:xfrm>
            <a:off x="713232" y="3840480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 · MRR · nDCG · MAP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578815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ממשק אחד, פקודה אחת:   </a:t>
            </a:r>
            <a:pPr algn="ctr" indent="0" marL="0">
              <a:buNone/>
            </a:pPr>
            <a:r>
              <a:rPr lang="en-US" sz="1400" b="1" dirty="0">
                <a:solidFill>
                  <a:srgbClr val="1531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src/run_all.py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נתונים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8815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קורפוס עברי של זכויות שנאסף עצמאית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945575" y="160020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0B3B45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45575" y="16916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300" b="1" dirty="0">
                <a:solidFill>
                  <a:srgbClr val="5FBD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296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8945575" y="23957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מסמכים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38367" y="160020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0B3B45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38367" y="16916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300" b="1" dirty="0">
                <a:solidFill>
                  <a:srgbClr val="5FBD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1,602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6138367" y="23957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פסקאות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31159" y="160020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0B3B45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31159" y="16916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300" b="1" dirty="0">
                <a:solidFill>
                  <a:srgbClr val="5FBD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122,928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3331159" y="23957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טוקנים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23951" y="160020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0B3B45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3951" y="16916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300" b="1" dirty="0">
                <a:solidFill>
                  <a:srgbClr val="5FBD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523951" y="23957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תחומי חיים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8815" y="3200400"/>
            <a:ext cx="5532120" cy="2834640"/>
          </a:xfrm>
          <a:prstGeom prst="roundRect">
            <a:avLst>
              <a:gd name="adj" fmla="val 2581"/>
            </a:avLst>
          </a:prstGeom>
          <a:solidFill>
            <a:srgbClr val="EAF4F4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4535" y="3520440"/>
            <a:ext cx="640080" cy="64008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7" y="3693262"/>
            <a:ext cx="294437" cy="29443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584655" y="3611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9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כל-זכות  ·  מקור עיקרי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761695" y="420624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רשמי של MediaWiki → טקסט נקי ומובנה</a:t>
            </a:r>
            <a:endParaRPr lang="en-US" sz="13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קטגוריות: נכות, אבטלה, בריאות, ילדים, הבטחת הכנסה, הורות</a:t>
            </a:r>
            <a:endParaRPr lang="en-US" sz="13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רישיון: CC-BY-SA (שימוש חוזר עם ייחוס)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6293815" y="320040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293815" y="3520440"/>
            <a:ext cx="640080" cy="640080"/>
          </a:xfrm>
          <a:prstGeom prst="ellipse">
            <a:avLst/>
          </a:prstGeom>
          <a:solidFill>
            <a:srgbClr val="E0852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637" y="3693262"/>
            <a:ext cx="294437" cy="294437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208215" y="3611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9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ביטוח לאומי  ·  מקור משלים</a:t>
            </a:r>
            <a:endParaRPr lang="en-US" sz="1900" dirty="0"/>
          </a:p>
        </p:txBody>
      </p:sp>
      <p:sp>
        <p:nvSpPr>
          <p:cNvPr id="28" name="Text 24"/>
          <p:cNvSpPr/>
          <p:nvPr/>
        </p:nvSpPr>
        <p:spPr>
          <a:xfrm>
            <a:off x="6613855" y="420624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דפי זכאות נבחרים, #mainContent בלבד</a:t>
            </a:r>
            <a:endParaRPr lang="en-US" sz="13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נבדק robots.txt · קצב מוגבל · User-Agent מזוהה</a:t>
            </a:r>
            <a:endParaRPr lang="en-US" sz="13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מוסיף את המשלב הפורמלי המנוגד לכל-זכות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578815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300" i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סט הערכה: 40 שאלות יומיומיות שחוברו ידנית, ממופות למסמכי אמת ומתויגות לפי פער-הניסוח.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קלאסי ·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8815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מטקסט עברי גולמי לטוקנים נקיים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70255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4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פסקה עוברת שרשרת עיבוד מקדים קלאסית לפני האינדוקס הלקסיקלי.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78815" y="205740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DDE8E8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4535" y="2057400"/>
            <a:ext cx="2468880" cy="841248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rtl="1" algn="l"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גולמי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76295" y="2057400"/>
            <a:ext cx="813816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l" indent="0" marL="0">
              <a:buNone/>
            </a:pPr>
            <a:r>
              <a:rPr lang="en-US" sz="14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...שכירים שפוטרו או התפטרו, כולל מי שעבדו בשני מקומות עבודה...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8815" y="3026664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EAF4F4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4535" y="3026664"/>
            <a:ext cx="2468880" cy="841248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rtl="1" algn="l"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נרמול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76295" y="3026664"/>
            <a:ext cx="813816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l" indent="0" marL="0">
              <a:buNone/>
            </a:pPr>
            <a:r>
              <a:rPr lang="en-US" sz="14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הסרת ניקוד [֑-ׇ] · הסרת פיסוק ולטינית · אותיות קטנות · צמצום רווחים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78815" y="3995928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EAF4F4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4535" y="3995928"/>
            <a:ext cx="2468880" cy="841248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rtl="1" algn="l"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טוקניזציה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76295" y="3995928"/>
            <a:ext cx="813816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l" indent="0" marL="0">
              <a:buNone/>
            </a:pPr>
            <a:r>
              <a:rPr lang="en-US" sz="14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שכירים · שפוטרו · או · התפטרו · כולל · מי · שעבדו · בשני · מקומות · עבודה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78815" y="496519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4E8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4535" y="4965192"/>
            <a:ext cx="2468880" cy="841248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rtl="1" algn="l"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הסרת מילות עצירה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76295" y="4965192"/>
            <a:ext cx="813816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l" indent="0" marL="0">
              <a:buNone/>
            </a:pPr>
            <a:r>
              <a:rPr lang="en-US" sz="14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הוסרו: או · מי · וכן · כדי · על · עד     ·     33 טוקנים, נותרו 26 טוקני תוכן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8815" y="61447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זרם הטוקנים מוזן ל-TF-IDF ול-BM25 ‹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קלאסי ·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8815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וקטוריזציה של הקורפוס עם TF-IDF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78815" y="1645920"/>
            <a:ext cx="5074920" cy="4389120"/>
          </a:xfrm>
          <a:prstGeom prst="roundRect">
            <a:avLst>
              <a:gd name="adj" fmla="val 1667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3135" y="1828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8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מטריצת מסמך–מונח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1695" y="24231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צורה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39135" y="2423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1,602 × 20,981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53135" y="2971800"/>
            <a:ext cx="4617720" cy="0"/>
          </a:xfrm>
          <a:prstGeom prst="line">
            <a:avLst/>
          </a:prstGeom>
          <a:noFill/>
          <a:ln w="9525">
            <a:solidFill>
              <a:srgbClr val="D7E6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1695" y="30815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אוצר מילים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39135" y="30815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20,981 מונחים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53135" y="3630168"/>
            <a:ext cx="4617720" cy="0"/>
          </a:xfrm>
          <a:prstGeom prst="line">
            <a:avLst/>
          </a:prstGeom>
          <a:noFill/>
          <a:ln w="9525">
            <a:solidFill>
              <a:srgbClr val="D7E6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1695" y="373989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יוניגרמים / ביגרמים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39135" y="373989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7,323 / 13,658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3135" y="4288536"/>
            <a:ext cx="4617720" cy="0"/>
          </a:xfrm>
          <a:prstGeom prst="line">
            <a:avLst/>
          </a:prstGeom>
          <a:noFill/>
          <a:ln w="9525">
            <a:solidFill>
              <a:srgbClr val="D7E6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1695" y="439826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ערכים שאינם אפס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39135" y="439826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141,493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3135" y="4946904"/>
            <a:ext cx="4617720" cy="0"/>
          </a:xfrm>
          <a:prstGeom prst="line">
            <a:avLst/>
          </a:prstGeom>
          <a:noFill/>
          <a:ln w="9525">
            <a:solidFill>
              <a:srgbClr val="D7E6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1695" y="50566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דלילות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39135" y="50566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99.58%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3135" y="5605272"/>
            <a:ext cx="4617720" cy="0"/>
          </a:xfrm>
          <a:prstGeom prst="line">
            <a:avLst/>
          </a:prstGeom>
          <a:noFill/>
          <a:ln w="9525">
            <a:solidFill>
              <a:srgbClr val="D7E6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82335" y="1645920"/>
            <a:ext cx="576072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73775" y="1874520"/>
            <a:ext cx="566928" cy="566928"/>
          </a:xfrm>
          <a:prstGeom prst="ellipse">
            <a:avLst/>
          </a:prstGeom>
          <a:solidFill>
            <a:srgbClr val="E0852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846" y="2027591"/>
            <a:ext cx="260787" cy="260787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751015" y="19385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פסקה אחת כוקטור דליל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6110935" y="24688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25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פסקה: ”דמי אבטלה“ — המונחים בעלי המשקל הגבוה ביותר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6110935" y="28803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לחל ת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8488375" y="288036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C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0.175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9364675" y="2944368"/>
            <a:ext cx="1866900" cy="256032"/>
          </a:xfrm>
          <a:prstGeom prst="roundRect">
            <a:avLst>
              <a:gd name="adj" fmla="val 14286"/>
            </a:avLst>
          </a:prstGeom>
          <a:solidFill>
            <a:srgbClr val="0E8A8F"/>
          </a:solidFill>
          <a:ln/>
        </p:spPr>
      </p:sp>
      <p:sp>
        <p:nvSpPr>
          <p:cNvPr id="32" name="Text 29"/>
          <p:cNvSpPr/>
          <p:nvPr/>
        </p:nvSpPr>
        <p:spPr>
          <a:xfrm>
            <a:off x="6110935" y="33375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לעבוד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8488375" y="333756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C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0.160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9524695" y="3401568"/>
            <a:ext cx="1706880" cy="256032"/>
          </a:xfrm>
          <a:prstGeom prst="roundRect">
            <a:avLst>
              <a:gd name="adj" fmla="val 14286"/>
            </a:avLst>
          </a:prstGeom>
          <a:solidFill>
            <a:srgbClr val="0E8A8F"/>
          </a:solidFill>
          <a:ln/>
        </p:spPr>
      </p:sp>
      <p:sp>
        <p:nvSpPr>
          <p:cNvPr id="35" name="Text 32"/>
          <p:cNvSpPr/>
          <p:nvPr/>
        </p:nvSpPr>
        <p:spPr>
          <a:xfrm>
            <a:off x="6110935" y="37947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בקצרה שכירים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8488375" y="379476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C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0.157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9556699" y="3858768"/>
            <a:ext cx="1674876" cy="256032"/>
          </a:xfrm>
          <a:prstGeom prst="roundRect">
            <a:avLst>
              <a:gd name="adj" fmla="val 14286"/>
            </a:avLst>
          </a:prstGeom>
          <a:solidFill>
            <a:srgbClr val="0E8A8F"/>
          </a:solidFill>
          <a:ln/>
        </p:spPr>
      </p:sp>
      <p:sp>
        <p:nvSpPr>
          <p:cNvPr id="38" name="Text 35"/>
          <p:cNvSpPr/>
          <p:nvPr/>
        </p:nvSpPr>
        <p:spPr>
          <a:xfrm>
            <a:off x="6110935" y="42519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בתנאים מסוימים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8488375" y="425196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C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0.157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9556699" y="4315968"/>
            <a:ext cx="1674876" cy="256032"/>
          </a:xfrm>
          <a:prstGeom prst="roundRect">
            <a:avLst>
              <a:gd name="adj" fmla="val 14286"/>
            </a:avLst>
          </a:prstGeom>
          <a:solidFill>
            <a:srgbClr val="0E8A8F"/>
          </a:solidFill>
          <a:ln/>
        </p:spPr>
      </p:sp>
      <p:sp>
        <p:nvSpPr>
          <p:cNvPr id="41" name="Text 38"/>
          <p:cNvSpPr/>
          <p:nvPr/>
        </p:nvSpPr>
        <p:spPr>
          <a:xfrm>
            <a:off x="6110935" y="47091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זכאי דמי</a:t>
            </a:r>
            <a:endParaRPr lang="en-US" sz="1350" dirty="0"/>
          </a:p>
        </p:txBody>
      </p:sp>
      <p:sp>
        <p:nvSpPr>
          <p:cNvPr id="42" name="Text 39"/>
          <p:cNvSpPr/>
          <p:nvPr/>
        </p:nvSpPr>
        <p:spPr>
          <a:xfrm>
            <a:off x="8488375" y="470916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C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0.157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9556699" y="4773168"/>
            <a:ext cx="1674876" cy="256032"/>
          </a:xfrm>
          <a:prstGeom prst="roundRect">
            <a:avLst>
              <a:gd name="adj" fmla="val 14286"/>
            </a:avLst>
          </a:prstGeom>
          <a:solidFill>
            <a:srgbClr val="0E8A8F"/>
          </a:solidFill>
          <a:ln/>
        </p:spPr>
      </p:sp>
      <p:sp>
        <p:nvSpPr>
          <p:cNvPr id="44" name="Text 41"/>
          <p:cNvSpPr/>
          <p:nvPr/>
        </p:nvSpPr>
        <p:spPr>
          <a:xfrm>
            <a:off x="6110935" y="51663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לשכירים</a:t>
            </a:r>
            <a:endParaRPr lang="en-US" sz="1350" dirty="0"/>
          </a:p>
        </p:txBody>
      </p:sp>
      <p:sp>
        <p:nvSpPr>
          <p:cNvPr id="45" name="Text 42"/>
          <p:cNvSpPr/>
          <p:nvPr/>
        </p:nvSpPr>
        <p:spPr>
          <a:xfrm>
            <a:off x="8488375" y="516636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C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0.157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9556699" y="5230368"/>
            <a:ext cx="1674876" cy="256032"/>
          </a:xfrm>
          <a:prstGeom prst="roundRect">
            <a:avLst>
              <a:gd name="adj" fmla="val 14286"/>
            </a:avLst>
          </a:prstGeom>
          <a:solidFill>
            <a:srgbClr val="0E8A8F"/>
          </a:solidFill>
          <a:ln/>
        </p:spPr>
      </p:sp>
      <p:sp>
        <p:nvSpPr>
          <p:cNvPr id="47" name="Text 44"/>
          <p:cNvSpPr/>
          <p:nvPr/>
        </p:nvSpPr>
        <p:spPr>
          <a:xfrm>
            <a:off x="6202375" y="54406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2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פסקה = נקודה במרחב בן 20,981 ממדים; הדירוג = דמיון קוסינוס לוקטור השאילתה.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קלאסי ·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8815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המורפולוגיה העברית מנפחת את אוצר המילים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8815" y="1463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5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העברית מדביקה מיליות (ב·ל·מ·ה·ו·ש·כ) לתחילת המילים, כך שאותו שורש מופיע בצורות רבות — אתגר אמיתי לחיפוש מבוסס-מילים.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8815" y="237744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0255" y="2697480"/>
            <a:ext cx="594360" cy="59436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732" y="2857957"/>
            <a:ext cx="273406" cy="27340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47495" y="276148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65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הסרת תחיליות קלה (הדגמת stemming)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715975" y="3429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5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לעובדים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727655" y="34290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E0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459175" y="3429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עובדים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15975" y="3931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5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והמעסיק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727655" y="3931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E0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459175" y="3931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המעסיק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15975" y="4434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5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כשעובד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727655" y="44348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E0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459175" y="4434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עובד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15975" y="4937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5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בתקופת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2727655" y="49377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E0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459175" y="4937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תקופת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15975" y="5440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5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מהמוסד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2727655" y="54406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E0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459175" y="5440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מוסד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6293815" y="237744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0B3B45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751015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300" b="1" dirty="0">
                <a:solidFill>
                  <a:srgbClr val="5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ההשפעה על אוצר המילים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9494215" y="32004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E08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8,963</a:t>
            </a:r>
            <a:endParaRPr lang="en-US" sz="4000" dirty="0"/>
          </a:p>
        </p:txBody>
      </p:sp>
      <p:sp>
        <p:nvSpPr>
          <p:cNvPr id="30" name="Text 27"/>
          <p:cNvSpPr/>
          <p:nvPr/>
        </p:nvSpPr>
        <p:spPr>
          <a:xfrm>
            <a:off x="8808415" y="320040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dirty="0">
                <a:solidFill>
                  <a:srgbClr val="5FBD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‹</a:t>
            </a:r>
            <a:endParaRPr lang="en-US" sz="3000" dirty="0"/>
          </a:p>
        </p:txBody>
      </p:sp>
      <p:sp>
        <p:nvSpPr>
          <p:cNvPr id="31" name="Text 28"/>
          <p:cNvSpPr/>
          <p:nvPr/>
        </p:nvSpPr>
        <p:spPr>
          <a:xfrm>
            <a:off x="6613855" y="3200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13,415</a:t>
            </a:r>
            <a:endParaRPr lang="en-US" sz="4000" dirty="0"/>
          </a:p>
        </p:txBody>
      </p:sp>
      <p:sp>
        <p:nvSpPr>
          <p:cNvPr id="32" name="Text 29"/>
          <p:cNvSpPr/>
          <p:nvPr/>
        </p:nvSpPr>
        <p:spPr>
          <a:xfrm>
            <a:off x="6568135" y="4160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30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סוגי מילים  ‹  לאחר הסרת תחילית אחת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568135" y="46177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3400" b="1" dirty="0">
                <a:solidFill>
                  <a:srgbClr val="5FBD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− 33%</a:t>
            </a:r>
            <a:endParaRPr lang="en-US" sz="3400" dirty="0"/>
          </a:p>
        </p:txBody>
      </p:sp>
      <p:sp>
        <p:nvSpPr>
          <p:cNvPr id="34" name="Text 31"/>
          <p:cNvSpPr/>
          <p:nvPr/>
        </p:nvSpPr>
        <p:spPr>
          <a:xfrm>
            <a:off x="6568135" y="54406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200" i="1" dirty="0">
                <a:solidFill>
                  <a:srgbClr val="AFC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המורפולוגיה — לא הנושא — אחראית לרוב הדלילות. למטיזציה מלאה היא עבודה עתידית.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מודלים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8815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חמישה מאחזרים, ממשק אחד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031175" y="182880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305495" y="2121408"/>
            <a:ext cx="640080" cy="64008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8317" y="2294230"/>
            <a:ext cx="294437" cy="29443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991295" y="20848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8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991295" y="25054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50" b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בסיס לקסיקלי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287207" y="2907792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קוסינוס דליל מעל מטריצת המונחים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172407" y="182880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46727" y="2121408"/>
            <a:ext cx="640080" cy="64008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549" y="2294230"/>
            <a:ext cx="294437" cy="29443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32527" y="20848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8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BM25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5132527" y="25054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50" b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לקסיקלי (בונוס)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428439" y="2907792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דירוג Okapi BM25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13639" y="182880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4E8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87959" y="2121408"/>
            <a:ext cx="640080" cy="640080"/>
          </a:xfrm>
          <a:prstGeom prst="ellipse">
            <a:avLst/>
          </a:prstGeom>
          <a:solidFill>
            <a:srgbClr val="E0852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2294230"/>
            <a:ext cx="294437" cy="29443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73759" y="20848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8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AlephBERT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273759" y="25054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50" b="1" dirty="0">
                <a:solidFill>
                  <a:srgbClr val="E0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סמנטי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569671" y="2907792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הטמעות משפט בעברית, קוסינוס צפוף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110935" y="39776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385255" y="4270248"/>
            <a:ext cx="640080" cy="64008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077" y="4443070"/>
            <a:ext cx="294437" cy="29443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71055" y="42336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8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· RRF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7071055" y="46542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50" b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שילוב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6366967" y="5056632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שילוב דירוגים הופכיים של לקסיקלי + סמנטי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2243023" y="39776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2517343" y="4270248"/>
            <a:ext cx="640080" cy="64008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0165" y="4443070"/>
            <a:ext cx="294437" cy="294437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203143" y="42336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8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· משוקלל</a:t>
            </a:r>
            <a:endParaRPr lang="en-US" sz="1800" dirty="0"/>
          </a:p>
        </p:txBody>
      </p:sp>
      <p:sp>
        <p:nvSpPr>
          <p:cNvPr id="35" name="Text 28"/>
          <p:cNvSpPr/>
          <p:nvPr/>
        </p:nvSpPr>
        <p:spPr>
          <a:xfrm>
            <a:off x="3203143" y="46542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50" b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שילוב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2499055" y="5056632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שילוב ציוני min-max: α·סמנטי + (1-α)·לקסיקלי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איך משלבים ומודדים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8815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שילוב היברידי והמדדים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78815" y="173736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AF4F4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4535" y="2057400"/>
            <a:ext cx="640080" cy="64008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7" y="2230222"/>
            <a:ext cx="294437" cy="29443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38935" y="21305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8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Reciprocal Rank Fusion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98855" y="2834640"/>
            <a:ext cx="48463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E6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8855" y="28346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i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score(d) = Σ  1 / (k + rank_i(d))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53135" y="388620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מבוסס-דירוג — לא נדרש כיול ציונים</a:t>
            </a:r>
            <a:endParaRPr lang="en-US" sz="14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מסמך שדורג גבוה ע"י אחד המודלים עולה</a:t>
            </a:r>
            <a:endParaRPr lang="en-US" sz="14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נבדק גם שילוב ציונים משוקלל (min-max)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93815" y="173736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93815" y="2057400"/>
            <a:ext cx="640080" cy="640080"/>
          </a:xfrm>
          <a:prstGeom prst="ellipse">
            <a:avLst/>
          </a:prstGeom>
          <a:solidFill>
            <a:srgbClr val="E0852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637" y="2230222"/>
            <a:ext cx="294437" cy="29443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08215" y="21305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8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מדדי הערכה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430975" y="2880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Recall@k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8214055" y="2880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האם מסמך רלוונטי נמצא ב-top-k?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430975" y="35935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MRR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8214055" y="35935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חלקי דירוג המסמך הרלוונטי הראשון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430975" y="43068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nDCG@10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8214055" y="430682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מתגמל מסמכים רלוונטיים בדירוג גבוה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6430975" y="50200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8214055" y="502005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דיוק ממוצע על פני כל הדירוג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6430975" y="5669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5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המדידה היא ברמת המסמך: פסקה נחשבת עבור הדף שאליו היא שייכת.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תוצאות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8815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השוואת חמשת המודלים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8815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6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דירוג הדדי ממוצע (MRR)</a:t>
            </a:r>
            <a:endParaRPr lang="en-US" sz="1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04495" y="1920240"/>
          <a:ext cx="55778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095" y="2057400"/>
          <a:ext cx="5394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640080"/>
                <a:gridCol w="640080"/>
                <a:gridCol w="685800"/>
                <a:gridCol w="640080"/>
                <a:gridCol w="640080"/>
                <a:gridCol w="15544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R@10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R@5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R@1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AlephBERT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9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Hybrid-RRF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Hybrid-wtd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248095" y="55321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200" i="1" dirty="0">
                <a:solidFill>
                  <a:srgbClr val="E0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שורה מודגשת = הטוב ביותר. Hybrid-RRF מוביל בכל מדדי הדירוג.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502920"/>
            <a:ext cx="310896" cy="310896"/>
          </a:xfrm>
          <a:prstGeom prst="ellipse">
            <a:avLst/>
          </a:prstGeom>
          <a:ln w="25400">
            <a:solidFill>
              <a:srgbClr val="5FBD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603504"/>
            <a:ext cx="109728" cy="109728"/>
          </a:xfrm>
          <a:prstGeom prst="ellipse">
            <a:avLst/>
          </a:prstGeom>
          <a:solidFill>
            <a:srgbClr val="5FBDB6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5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הממצא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70255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הסמנטי לבדו הפסיד. ההיברידי ניצח.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031175" y="192024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10303A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323783" y="2240280"/>
            <a:ext cx="731520" cy="731520"/>
          </a:xfrm>
          <a:prstGeom prst="ellipse">
            <a:avLst/>
          </a:prstGeom>
          <a:solidFill>
            <a:srgbClr val="C2603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1294" y="2437790"/>
            <a:ext cx="336499" cy="33649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32927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 נדחתה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68919" y="370332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AlephBERT לבדו הוא המודל החלש ביותר — MRR 0.579, 9 מתוך 40 החטאות — ואינו מנצח את הלקסיקלי אפילו בשאלות עם פער-ניסוח גבוה (R@1 0.44 מול 0.48).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263847" y="192024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10303A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56455" y="2240280"/>
            <a:ext cx="731520" cy="73152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966" y="2437790"/>
            <a:ext cx="336499" cy="33649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65599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 אושרה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501591" y="370332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Hybrid-RRF מוביל בכול: MRR 0.668, nDCG 0.704, והכי מעט החטאות (5/40). השילוב הוא המנצח המעשי.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96519" y="192024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10303A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89127" y="2240280"/>
            <a:ext cx="731520" cy="731520"/>
          </a:xfrm>
          <a:prstGeom prst="ellipse">
            <a:avLst/>
          </a:prstGeom>
          <a:solidFill>
            <a:srgbClr val="0B6E7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638" y="2437790"/>
            <a:ext cx="336499" cy="33649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98271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מדוע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734263" y="370332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שני המודלים נכשלים אחרת. הסמנטי מציל פראפרזות ללא מילים משותפות שהלקסיקלי לא; משולבים, נשמר הדיוק ונוסף כיסוי — משלימים, לא עדיפים.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2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תוצאות · פירוט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8815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Recall@k ומבחן פער-הניסוח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8815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6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Recall@k כתלות ב-k</a:t>
            </a:r>
            <a:endParaRPr lang="en-US" sz="1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04495" y="1874520"/>
          <a:ext cx="56692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6110935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6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Recall@1 לפי פער-הניסוח  (מבחן H1)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39535" y="1965960"/>
          <a:ext cx="52578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371600"/>
                <a:gridCol w="1097280"/>
                <a:gridCol w="685800"/>
                <a:gridCol w="12801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היברידי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AlephBERT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פער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נמוך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בינוני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26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גבוה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339535" y="416052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4E8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385255" y="4434840"/>
            <a:ext cx="566928" cy="566928"/>
          </a:xfrm>
          <a:prstGeom prst="ellipse">
            <a:avLst/>
          </a:prstGeom>
          <a:solidFill>
            <a:srgbClr val="E0852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326" y="4587911"/>
            <a:ext cx="260787" cy="26078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99655" y="434340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אפילו בשאלות הקשות והמנוסחות-מחדש ביותר, הסמנטי אינו מקדים (0.44 מול 0.48). היתרון הסמנטי הצפוי פשוט אינו קיים במודל מדף זה.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תוצאות · לכל שאילתה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8815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היכן כל מודל מנצח, שאלה אחר שאלה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7" name="Image 0" descr="results/figures/winloss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7464" y="1554480"/>
            <a:ext cx="2427672" cy="4983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150815" y="1920240"/>
            <a:ext cx="6492240" cy="3566160"/>
          </a:xfrm>
          <a:prstGeom prst="roundRect">
            <a:avLst>
              <a:gd name="adj" fmla="val 2051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16575" y="21488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8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כיצד לקרוא את מפת החום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425135" y="278892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שורה היא אחת מ-40 השאלות; הצבע = דירוג המסמך הנכון הראשון (ירוק = למעלה, אדום = עמוק, אפור = הוחמץ).</a:t>
            </a:r>
            <a:endParaRPr lang="en-US" sz="145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ירוקים ואפורים מתחלפים בין העמודות — המודלים מצליחים ונכשלים בשאלות שונות.</a:t>
            </a:r>
            <a:endParaRPr lang="en-US" sz="145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אי-ההסכמה הזו היא בדיוק מה שהופך את השילוב למשתלם.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150815" y="5669280"/>
            <a:ext cx="6492240" cy="777240"/>
          </a:xfrm>
          <a:prstGeom prst="roundRect">
            <a:avLst>
              <a:gd name="adj" fmla="val 9412"/>
            </a:avLst>
          </a:prstGeom>
          <a:solidFill>
            <a:srgbClr val="0B3B45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379415" y="56692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החטאות (מסמך האמת לא ב-top-10):  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6   ·   AlephBERT 9   ·   היברידי 5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ניתוח שגיאות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8815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שלוש תבניות, דוגמאות אמיתיות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78815" y="16916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4535" y="2057400"/>
            <a:ext cx="640080" cy="64008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7" y="2230222"/>
            <a:ext cx="294437" cy="29443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30375" y="18562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· הסמנטי מנצח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630375" y="22951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50" b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מקרים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516575" y="185623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500" b="1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”חייבים להגיע ללשכת התעסוקה כל הזמן?“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516575" y="235000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אמת: התייצבות בשירות התעסוקה.  אפס מילים משותפות → לקסיקלי דירוג 4, סמנטי דירוג 1.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78815" y="3172968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4535" y="3538728"/>
            <a:ext cx="640080" cy="640080"/>
          </a:xfrm>
          <a:prstGeom prst="ellipse">
            <a:avLst/>
          </a:prstGeom>
          <a:solidFill>
            <a:srgbClr val="E0852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7" y="3711550"/>
            <a:ext cx="294437" cy="29443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30375" y="3337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· הלקסיקלי מנצח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1630375" y="3776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50" b="1" dirty="0">
                <a:solidFill>
                  <a:srgbClr val="E0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מקרים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516575" y="33375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500" b="1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”כיסא גלגלים ומכשירי שיקום?“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516575" y="3831336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אמת: אביזרי ומכשירי שיקום.  מונח מדויק וחד → לקסיקלי דירוג 1, סמנטי מחמיץ.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78815" y="46542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4535" y="5020056"/>
            <a:ext cx="640080" cy="640080"/>
          </a:xfrm>
          <a:prstGeom prst="ellipse">
            <a:avLst/>
          </a:prstGeom>
          <a:solidFill>
            <a:srgbClr val="8A8F94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7" y="5192878"/>
            <a:ext cx="294437" cy="29443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630375" y="48188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· שניהם נכשלים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1630375" y="5257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150" b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מקרים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516575" y="481888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500" b="1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”איך מקבלים קצבת נכות?“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5516575" y="5312664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הדף הקרוב ביותר הוא קצרמר של ביטוח לאומי, מוצף בדפי ”קביעת נכות“ ספציפיים.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בתוך המודל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8815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כך נראה מרחב ההטמעות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7" name="Image 0" descr="results/figures/embedding_ts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97115" y="1691640"/>
            <a:ext cx="578509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88175" y="210312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EAF4F4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25335" y="2423160"/>
            <a:ext cx="640080" cy="64008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157" y="2595982"/>
            <a:ext cx="294437" cy="2944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48295" y="24871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t-SNE של וקטורי הפסקאות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253935" y="310896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הטמעות AlephBERT מוטלות ל-2 ממדים, צבועות לפי תחום חיים.</a:t>
            </a:r>
            <a:endParaRPr lang="en-US" sz="135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התחומים יוצרים אשכולות — המודל אכן לוכד משמעות נושאית.</a:t>
            </a:r>
            <a:endParaRPr lang="en-US" sz="135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אך האשכולות חופפים, ולכן דירוג עדין עדיין זקוק לאות הלקסיקלי.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3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502920"/>
            <a:ext cx="310896" cy="310896"/>
          </a:xfrm>
          <a:prstGeom prst="ellipse">
            <a:avLst/>
          </a:prstGeom>
          <a:ln w="25400">
            <a:solidFill>
              <a:srgbClr val="5FBD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603504"/>
            <a:ext cx="109728" cy="109728"/>
          </a:xfrm>
          <a:prstGeom prst="ellipse">
            <a:avLst/>
          </a:prstGeom>
          <a:solidFill>
            <a:srgbClr val="5FBDB6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5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מסקנות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70255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מה הפרויקט מראה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78815" y="187452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10303A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9127" y="2194560"/>
            <a:ext cx="658368" cy="658368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887" y="2372319"/>
            <a:ext cx="302849" cy="3028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84655" y="216712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צינור IR עברי מלא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62279" y="289864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קורפוס שנאסף עצמאית → עיבוד מקדים → 5 מאחזרים → הערכה קפדנית, ניתן לשחזור מלא.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02375" y="187452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10303A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12687" y="2194560"/>
            <a:ext cx="658368" cy="658368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447" y="2372319"/>
            <a:ext cx="302849" cy="30284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08215" y="216712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ההיברידי הוא ההמלצה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6485839" y="289864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המודל היחיד שמנצח את שני קווי הבסיס בכל מדדי הדירוג.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78815" y="402336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10303A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89127" y="4343400"/>
            <a:ext cx="658368" cy="658368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887" y="4521159"/>
            <a:ext cx="302849" cy="30284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84655" y="431596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מדף ≠ ניצחון חינם</a:t>
            </a:r>
            <a:endParaRPr lang="en-US" sz="1750" dirty="0"/>
          </a:p>
        </p:txBody>
      </p:sp>
      <p:sp>
        <p:nvSpPr>
          <p:cNvPr id="20" name="Text 15"/>
          <p:cNvSpPr/>
          <p:nvPr/>
        </p:nvSpPr>
        <p:spPr>
          <a:xfrm>
            <a:off x="862279" y="50474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מקודד עברי מבוסס masked-LM הוא משלים שימושי, לא שדרוג מיידי לאחזור.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202375" y="402336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10303A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12687" y="4343400"/>
            <a:ext cx="658368" cy="658368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447" y="4521159"/>
            <a:ext cx="302849" cy="30284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08215" y="431596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המשך</a:t>
            </a:r>
            <a:endParaRPr lang="en-US" sz="1750" dirty="0"/>
          </a:p>
        </p:txBody>
      </p:sp>
      <p:sp>
        <p:nvSpPr>
          <p:cNvPr id="25" name="Text 19"/>
          <p:cNvSpPr/>
          <p:nvPr/>
        </p:nvSpPr>
        <p:spPr>
          <a:xfrm>
            <a:off x="6485839" y="50474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 מכוון-אחזור (E5), למטיזציה עברית, וסט הערכה גדול ומדורג יותר.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2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אחראי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8815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אתיקה ומגבלות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78815" y="178308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AF4F4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9127" y="2103120"/>
            <a:ext cx="658368" cy="658368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887" y="2280879"/>
            <a:ext cx="302849" cy="30284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84655" y="205740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נתונים ציבוריים ומורשים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16559" y="27889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כל-זכות (CC-BY-SA) + מידע ציבורי של ביטוח לאומי. ללא מידע אישי, ללא סריקת תוכן משתמשים.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02375" y="178308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AF4F4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12687" y="2103120"/>
            <a:ext cx="658368" cy="658368"/>
          </a:xfrm>
          <a:prstGeom prst="ellipse">
            <a:avLst/>
          </a:prstGeom>
          <a:solidFill>
            <a:srgbClr val="E0852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447" y="2280879"/>
            <a:ext cx="302849" cy="30284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08215" y="205740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אינו ייעוץ משפטי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440119" y="27889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אב-טיפוס מחקרי. שימוש אמיתי חייב להציג קישורי מקור ולהפנות לרשות המוסמכת.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78815" y="393192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89127" y="4251960"/>
            <a:ext cx="658368" cy="658368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887" y="4429719"/>
            <a:ext cx="302849" cy="30284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84655" y="420624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הטיה וכיסוי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16559" y="493776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שישה תחומים בלבד; המורפולוגיה העברית פוגעת בלקסיקלי; ל-AlephBERT ייתכנו הטיות מקדם-אימון.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202375" y="393192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12687" y="4251960"/>
            <a:ext cx="658368" cy="658368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447" y="4429719"/>
            <a:ext cx="302849" cy="30284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08215" y="420624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סט הערכה קטן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6440119" y="493776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שאלות, מתייג יחיד: מצביע על מגמה, אך אינו מובהק סטטיסטית.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3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937760"/>
            <a:ext cx="1097280" cy="1097280"/>
          </a:xfrm>
          <a:prstGeom prst="ellipse">
            <a:avLst/>
          </a:prstGeom>
          <a:ln w="12700">
            <a:solidFill>
              <a:srgbClr val="5FBDB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57055" y="4480560"/>
            <a:ext cx="2011680" cy="2011680"/>
          </a:xfrm>
          <a:prstGeom prst="ellipse">
            <a:avLst/>
          </a:prstGeom>
          <a:ln w="12700">
            <a:solidFill>
              <a:srgbClr val="5FBDB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99855" y="4023360"/>
            <a:ext cx="2926080" cy="2926080"/>
          </a:xfrm>
          <a:prstGeom prst="ellipse">
            <a:avLst/>
          </a:prstGeom>
          <a:ln w="12700">
            <a:solidFill>
              <a:srgbClr val="5FBDB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42655" y="3566160"/>
            <a:ext cx="3840480" cy="3840480"/>
          </a:xfrm>
          <a:prstGeom prst="ellipse">
            <a:avLst/>
          </a:prstGeom>
          <a:ln w="12700">
            <a:solidFill>
              <a:srgbClr val="5FBDB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82735" y="731520"/>
            <a:ext cx="777240" cy="77724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2590" y="941375"/>
            <a:ext cx="357530" cy="3575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3135" y="2011680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תודה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53135" y="2971800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2000" i="1" dirty="0">
                <a:solidFill>
                  <a:srgbClr val="5FBD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אחזור סמנטי בעברית לשאלות על זכויות חברתיות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53135" y="370332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FC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github.com/YanikGotie/hebrew-rights-retrieval   ·  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יניק גוטיה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53135" y="448056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10303A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07415" y="4800600"/>
            <a:ext cx="640080" cy="64008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7" y="4973422"/>
            <a:ext cx="294437" cy="29443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76095" y="4846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גילוי שימוש ב-AI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630375" y="528523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נעשה שימוש בעוזר AI ככלי לכתיבת קוד (תבניות, תיעוד, ניפוי שגיאות). תכנון המחקר, הנתונים, סט ההערכה והמסקנות הם של המחבר; כל הקוד נבדק והובן.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Hebrew Semantic Rights Retrieval</dc:title>
  <dc:subject>PptxGenJS Presentation</dc:subject>
  <dc:creator>Yanik Gotie</dc:creator>
  <cp:lastModifiedBy>Yanik Gotie</cp:lastModifiedBy>
  <cp:revision>1</cp:revision>
  <dcterms:created xsi:type="dcterms:W3CDTF">2026-06-27T19:14:42Z</dcterms:created>
  <dcterms:modified xsi:type="dcterms:W3CDTF">2026-06-27T19:14:42Z</dcterms:modified>
</cp:coreProperties>
</file>