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0E8A8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35-EE48-98B9-57732B45EA4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735-EE48-98B9-57732B45EA4D}"/>
              </c:ext>
            </c:extLst>
          </c:dPt>
          <c:dPt>
            <c:idx val="2"/>
            <c:invertIfNegative val="0"/>
            <c:bubble3D val="0"/>
            <c:spPr>
              <a:solidFill>
                <a:srgbClr val="E085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35-EE48-98B9-57732B45EA4D}"/>
              </c:ext>
            </c:extLst>
          </c:dPt>
          <c:dPt>
            <c:idx val="3"/>
            <c:invertIfNegative val="0"/>
            <c:bubble3D val="0"/>
            <c:spPr>
              <a:solidFill>
                <a:srgbClr val="0B6E7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735-EE48-98B9-57732B45EA4D}"/>
              </c:ext>
            </c:extLst>
          </c:dPt>
          <c:dPt>
            <c:idx val="4"/>
            <c:invertIfNegative val="0"/>
            <c:bubble3D val="0"/>
            <c:spPr>
              <a:solidFill>
                <a:srgbClr val="5FBD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735-EE48-98B9-57732B45EA4D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3139"/>
                    </a:solidFill>
                    <a:latin typeface="Arial"/>
                  </a:defRPr>
                </a:pPr>
                <a:endParaRPr lang="en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TF-IDF</c:v>
                </c:pt>
                <c:pt idx="1">
                  <c:v>BM25</c:v>
                </c:pt>
                <c:pt idx="2">
                  <c:v>AlephBERT</c:v>
                </c:pt>
                <c:pt idx="3">
                  <c:v>Hybrid-RRF</c:v>
                </c:pt>
                <c:pt idx="4">
                  <c:v>Hybrid-wtd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0.61799999999999999</c:v>
                </c:pt>
                <c:pt idx="1">
                  <c:v>0.61199999999999999</c:v>
                </c:pt>
                <c:pt idx="2">
                  <c:v>0.57899999999999996</c:v>
                </c:pt>
                <c:pt idx="3">
                  <c:v>0.66800000000000004</c:v>
                </c:pt>
                <c:pt idx="4">
                  <c:v>0.65300000000000002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735-EE48-98B9-57732B45EA4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.5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</c:v>
                </c:pt>
              </c:strCache>
            </c:strRef>
          </c:tx>
          <c:spPr>
            <a:ln w="38100" cap="flat">
              <a:solidFill>
                <a:srgbClr val="0E8A8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8A8F"/>
              </a:solidFill>
              <a:ln w="9525" cap="flat">
                <a:solidFill>
                  <a:srgbClr val="0E8A8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0.47499999999999998</c:v>
                </c:pt>
                <c:pt idx="1">
                  <c:v>0.72499999999999998</c:v>
                </c:pt>
                <c:pt idx="2">
                  <c:v>0.82499999999999996</c:v>
                </c:pt>
                <c:pt idx="3">
                  <c:v>0.85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1E7-6D4F-A415-51E957160E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AlephBERT</c:v>
                </c:pt>
              </c:strCache>
            </c:strRef>
          </c:tx>
          <c:spPr>
            <a:ln w="38100" cap="flat">
              <a:solidFill>
                <a:srgbClr val="E0852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0852F"/>
              </a:solidFill>
              <a:ln w="9525" cap="flat">
                <a:solidFill>
                  <a:srgbClr val="E0852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0.47499999999999998</c:v>
                </c:pt>
                <c:pt idx="1">
                  <c:v>0.7</c:v>
                </c:pt>
                <c:pt idx="2">
                  <c:v>0.72499999999999998</c:v>
                </c:pt>
                <c:pt idx="3">
                  <c:v>0.77500000000000002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1E7-6D4F-A415-51E957160E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Hybrid-RRF</c:v>
                </c:pt>
              </c:strCache>
            </c:strRef>
          </c:tx>
          <c:spPr>
            <a:ln w="38100" cap="flat">
              <a:solidFill>
                <a:srgbClr val="0B3B4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B3B45"/>
              </a:solidFill>
              <a:ln w="9525" cap="flat">
                <a:solidFill>
                  <a:srgbClr val="0B3B45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0.55000000000000004</c:v>
                </c:pt>
                <c:pt idx="1">
                  <c:v>0.75</c:v>
                </c:pt>
                <c:pt idx="2">
                  <c:v>0.8</c:v>
                </c:pt>
                <c:pt idx="3">
                  <c:v>0.875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1E7-6D4F-A415-51E957160E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C6B72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2429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50415" y="438912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493215" y="393192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1036015" y="347472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578815" y="301752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07415" y="77724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999439"/>
            <a:ext cx="378562" cy="3785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58975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גמר NLP  ·  מסלול 3 — פרויקט מבוסס-נתונים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3135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הנגשת זכויות חברתיות באמצעות NLP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53135" y="2834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53135" y="36118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5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חיפוש מבוסס-משמעות מנצח חיפוש מבוסס-מילים בשאלות יומיומיות של אזרחים — והאם שילוב השניים מנצח את שניהם?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53135" y="5074920"/>
            <a:ext cx="3840480" cy="0"/>
          </a:xfrm>
          <a:prstGeom prst="line">
            <a:avLst/>
          </a:prstGeom>
          <a:noFill/>
          <a:ln w="1905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853135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ת.ז. 318553526   ·   HIT   ·   ד"ר איגור קליינר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הפער בין איך שואלים לבין איך הזכויות מנוסחות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אזרחים מתארים את מצבם בשפה יומיומית ורגשית. המקורות הרשמיים עונים בעברית פורמלית-משפטית. חיפוש מבוסס-מילים נופל בדיוק בפער שביניהם.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24535" y="265176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282458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8465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אנשים שואלים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313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”פיטרו אותי מהעבודה, מה מגיע לי?“</a:t>
            </a:r>
            <a:endParaRPr lang="en-US" sz="16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”התינוק שלי מתעכב בהתפתחות, לאן פונים?“</a:t>
            </a:r>
            <a:endParaRPr lang="en-US" sz="16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”יש לי אוטו, זה פוסל אותי מקצבה?“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8525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4" name="Shape 11"/>
          <p:cNvSpPr/>
          <p:nvPr/>
        </p:nvSpPr>
        <p:spPr>
          <a:xfrm>
            <a:off x="6430975" y="26517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2824582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9109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המקורות מנוסחים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65957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לדמי אבטלה“</a:t>
            </a:r>
            <a:endParaRPr lang="en-US" sz="16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”אבחון רפואי התפתחותי לילדים“</a:t>
            </a:r>
            <a:endParaRPr lang="en-US" sz="16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לגמלת הבטחת הכנסה ובעלות על רכב“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78815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500" b="1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אותה משמעות · לעיתים קרובות ללא מילים משותפות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שאלת המחקר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78815" y="9601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האם אחזור מבוסס-משמעות </a:t>
            </a:r>
            <a:r>
              <a:rPr lang="en-US" sz="27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עוזר</a:t>
            </a: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- והאם שילובו עם חיפוש מילים עוזר יותר?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11093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47669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7669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1969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סמנטי &gt; לקסיקלי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38525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ההטמעות של AlephBERT מנצחות את TF-IDF, במיוחד כששאלה מנוסחת רחוק מנוסח המקור.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1305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7881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57881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2181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היברידי &gt; שניהם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737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לקסיקלי + סמנטי מנצח כל שיטה בודדת באיכות הדירוג (MRR, nDCG).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78815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סקירה כללית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העיבוד מקצה לקצה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631375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0225735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7934" y="2645359"/>
            <a:ext cx="378562" cy="37856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31375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איסוף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795967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של כל-זכות + סריקת ביטוח לאומי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651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7360691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14" name="Shape 11"/>
          <p:cNvSpPr/>
          <p:nvPr/>
        </p:nvSpPr>
        <p:spPr>
          <a:xfrm>
            <a:off x="7955051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7251" y="2645359"/>
            <a:ext cx="378562" cy="3785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60691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עיבוד מקדים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525283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ניקוי · טוקניזציה · מילות עצירה · חלוקה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055968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5090008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20" name="Shape 16"/>
          <p:cNvSpPr/>
          <p:nvPr/>
        </p:nvSpPr>
        <p:spPr>
          <a:xfrm>
            <a:off x="5684368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567" y="2645359"/>
            <a:ext cx="378562" cy="3785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90008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אינדוקס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4600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BM25 · AlephBERT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785284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2819324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26" name="Shape 21"/>
          <p:cNvSpPr/>
          <p:nvPr/>
        </p:nvSpPr>
        <p:spPr>
          <a:xfrm>
            <a:off x="3413684" y="2423160"/>
            <a:ext cx="822960" cy="82296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5883" y="2645359"/>
            <a:ext cx="378562" cy="37856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819324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שילוב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2983916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היברידי RRF + משוקלל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2514600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Shape 25"/>
          <p:cNvSpPr/>
          <p:nvPr/>
        </p:nvSpPr>
        <p:spPr>
          <a:xfrm>
            <a:off x="548640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sp>
        <p:nvSpPr>
          <p:cNvPr id="32" name="Shape 26"/>
          <p:cNvSpPr/>
          <p:nvPr/>
        </p:nvSpPr>
        <p:spPr>
          <a:xfrm>
            <a:off x="1143000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r" rtl="1"/>
            <a:endParaRPr lang="en-IL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65199" y="2645359"/>
            <a:ext cx="378562" cy="37856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4864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הערכה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713232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· MRR · nDCG · MAP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578815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אחד, פקודה אחת:   </a:t>
            </a:r>
            <a:r>
              <a:rPr lang="en-US" sz="1400" b="1" dirty="0">
                <a:solidFill>
                  <a:srgbClr val="1531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src/run_all.py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קורפוס עברי של זכויות שנאסף עצמאית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945575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45575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296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8945575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38367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138367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138367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פסקאות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1159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3331159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122,928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3331159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טוקנים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3951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23951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523951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תחומי חיים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8815" y="3200400"/>
            <a:ext cx="5532120" cy="2834640"/>
          </a:xfrm>
          <a:prstGeom prst="roundRect">
            <a:avLst>
              <a:gd name="adj" fmla="val 2581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624535" y="352044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3693262"/>
            <a:ext cx="294437" cy="29443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84655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כל-זכות  ·  מקור עיקרי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61695" y="42062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רשמי של MediaWiki → טקסט נקי ומובנה</a:t>
            </a:r>
            <a:endParaRPr lang="en-US" sz="1350" dirty="0"/>
          </a:p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קטגוריות: נכות, אבטלה, בריאות, ילדים, הבטחת הכנסה, הורות</a:t>
            </a:r>
            <a:endParaRPr lang="en-US" sz="1350" dirty="0"/>
          </a:p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רישיון: CC-BY-SA (שימוש חוזר עם ייחוס)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293815" y="320040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5" name="Shape 22"/>
          <p:cNvSpPr/>
          <p:nvPr/>
        </p:nvSpPr>
        <p:spPr>
          <a:xfrm>
            <a:off x="6293815" y="352044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637" y="3693262"/>
            <a:ext cx="294437" cy="29443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08215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ביטוח לאומי  ·  מקור משלים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6613855" y="42062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 זכאות נבחרים, #mainContent בלבד</a:t>
            </a:r>
            <a:endParaRPr lang="en-US" sz="1350" dirty="0"/>
          </a:p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robots.txt · קצב מוגבל · User-Agent מזוהה</a:t>
            </a:r>
            <a:endParaRPr lang="en-US" sz="1350" dirty="0"/>
          </a:p>
          <a:p>
            <a:pPr marL="342900" indent="-342900" algn="r" rtl="1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מוסיף את המשלב הפורמלי המנוגד לכל-זכות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578815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00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סט הערכה: 40 שאלות יומיומיות שחוברו ידנית, ממופות למסמכי אמת ומתויגות לפי פער-הניסוח.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מטקסט עברי גולמי לטוקנים נקיים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255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עוברת שרשרת עיבוד מקדים קלאסית לפני האינדוקס הלקסיקלי.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8815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DDE8E8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24535" y="2057400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גולמי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76295" y="2057400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...שכירים שפוטרו או התפטרו, כולל מי שעבדו בשני מקומות עבודה...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15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24535" y="3026664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נרמול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76295" y="3026664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הסרת ניקוד [֑-ׇ] · הסרת פיסוק ולטינית · אותיות קטנות · צמצום רווחים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8815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24535" y="3995928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טוקניזציה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76295" y="3995928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שכירים · שפוטרו · או · התפטרו · כולל · מי · שעבדו · בשני · מקומות · עבודה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78815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24535" y="4965192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הסרת מילות עצירה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76295" y="4965192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הוסרו: או · מי · וכן · כדי · על · עד     ·     33 טוקנים, נותרו 26 טוקני תוכן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8815" y="6144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זרם הטוקנים מוזן ל-TF-IDF ול-BM25 ‹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וקטוריזציה של הקורפוס עם TF-IDF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45920"/>
            <a:ext cx="5074920" cy="4389120"/>
          </a:xfrm>
          <a:prstGeom prst="roundRect">
            <a:avLst>
              <a:gd name="adj" fmla="val 1667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53135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מטריצת מסמך–מונח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61695" y="24231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צורה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39135" y="24231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 × 20,981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53135" y="2971800"/>
            <a:ext cx="461772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61695" y="30815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אוצר מילים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39135" y="30815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20,981 מונחים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53135" y="3630168"/>
            <a:ext cx="461772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761695" y="37398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יוניגרמים / ביגרמים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39135" y="37398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7,323 / 13,658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3135" y="4288536"/>
            <a:ext cx="461772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61695" y="439826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ערכים שאינם אפס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39135" y="439826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141,493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3135" y="4946904"/>
            <a:ext cx="461772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761695" y="50566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דלילות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39135" y="50566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99.58%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53135" y="5605272"/>
            <a:ext cx="461772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5882335" y="1645920"/>
            <a:ext cx="57607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973775" y="187452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846" y="2027591"/>
            <a:ext cx="260787" cy="26078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751015" y="1938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פסקה אחת כוקטור דליל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110935" y="2468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פסקה: ”דמי אבטלה“ — המונחים בעלי המשקל הגבוה ביותר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110935" y="2880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לחל ת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488375" y="2880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0.175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364675" y="2944368"/>
            <a:ext cx="186690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2" name="Text 29"/>
          <p:cNvSpPr/>
          <p:nvPr/>
        </p:nvSpPr>
        <p:spPr>
          <a:xfrm>
            <a:off x="6110935" y="33375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לעבוד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488375" y="33375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0.160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524695" y="3401568"/>
            <a:ext cx="170688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5" name="Text 32"/>
          <p:cNvSpPr/>
          <p:nvPr/>
        </p:nvSpPr>
        <p:spPr>
          <a:xfrm>
            <a:off x="6110935" y="37947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בקצרה שכירים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8488375" y="37947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556699" y="38587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8" name="Text 35"/>
          <p:cNvSpPr/>
          <p:nvPr/>
        </p:nvSpPr>
        <p:spPr>
          <a:xfrm>
            <a:off x="6110935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בתנאים מסוימים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8488375" y="42519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56699" y="43159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1" name="Text 38"/>
          <p:cNvSpPr/>
          <p:nvPr/>
        </p:nvSpPr>
        <p:spPr>
          <a:xfrm>
            <a:off x="6110935" y="47091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זכאי דמי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488375" y="47091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556699" y="47731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4" name="Text 41"/>
          <p:cNvSpPr/>
          <p:nvPr/>
        </p:nvSpPr>
        <p:spPr>
          <a:xfrm>
            <a:off x="6110935" y="5166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לשכירים</a:t>
            </a:r>
            <a:endParaRPr lang="en-US" sz="1350" dirty="0"/>
          </a:p>
        </p:txBody>
      </p:sp>
      <p:sp>
        <p:nvSpPr>
          <p:cNvPr id="45" name="Text 42"/>
          <p:cNvSpPr/>
          <p:nvPr/>
        </p:nvSpPr>
        <p:spPr>
          <a:xfrm>
            <a:off x="8488375" y="5166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556699" y="52303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7" name="Text 44"/>
          <p:cNvSpPr/>
          <p:nvPr/>
        </p:nvSpPr>
        <p:spPr>
          <a:xfrm>
            <a:off x="6202375" y="54406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= נקודה במרחב בן 20,981 ממדים; הדירוג = דמיון קוסינוס לוקטור השאילתה.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המורפולוגיה העברית מנפחת את אוצר המילים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העברית מדביקה מיליות (ב·ל·מ·ה·ו·ש·כ) לתחילת המילים, כך שאותו שורש מופיע בצורות רבות — אתגר אמיתי לחיפוש מבוסס-מילים.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774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70255" y="2697480"/>
            <a:ext cx="594360" cy="59436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32" y="2857957"/>
            <a:ext cx="273406" cy="27340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7495" y="27614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65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הסרת תחיליות קלה (הדגמת stemming)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715975" y="3429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לעובדים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727655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59175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עובדים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15975" y="3931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והמעסיק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727655" y="3931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459175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המעסיק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5975" y="4434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כשעובד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727655" y="4434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459175" y="4434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15975" y="4937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בתקופת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2727655" y="4937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459175" y="4937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תקופת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5975" y="5440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מהמוסד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727655" y="5440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459175" y="5440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מוסד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93815" y="237744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8" name="Text 25"/>
          <p:cNvSpPr/>
          <p:nvPr/>
        </p:nvSpPr>
        <p:spPr>
          <a:xfrm>
            <a:off x="6751015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ההשפעה על אוצר המילים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494215" y="3200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E0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8,963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8808415" y="32004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Text 28"/>
          <p:cNvSpPr/>
          <p:nvPr/>
        </p:nvSpPr>
        <p:spPr>
          <a:xfrm>
            <a:off x="6613855" y="3200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13,415</a:t>
            </a:r>
            <a:endParaRPr lang="en-US" sz="4000" dirty="0"/>
          </a:p>
        </p:txBody>
      </p:sp>
      <p:sp>
        <p:nvSpPr>
          <p:cNvPr id="32" name="Text 29"/>
          <p:cNvSpPr/>
          <p:nvPr/>
        </p:nvSpPr>
        <p:spPr>
          <a:xfrm>
            <a:off x="6568135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3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סוגי מילים  ‹  לאחר הסרת תחילית אחת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68135" y="4617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34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− 33%</a:t>
            </a:r>
            <a:endParaRPr lang="en-US" sz="3400" dirty="0"/>
          </a:p>
        </p:txBody>
      </p:sp>
      <p:sp>
        <p:nvSpPr>
          <p:cNvPr id="34" name="Text 31"/>
          <p:cNvSpPr/>
          <p:nvPr/>
        </p:nvSpPr>
        <p:spPr>
          <a:xfrm>
            <a:off x="6568135" y="5440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המורפולוגיה — לא הנושא — אחראית לרוב הדלילות. למטיזציה מלאה היא עבודה עתידית.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חמישה מאחזרים, ממשק אחד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31175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05495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7" y="2294230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91295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991295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 לקסיקלי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87207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קוסינוס דליל מעל מטריצת המונחים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172407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4" name="Shape 11"/>
          <p:cNvSpPr/>
          <p:nvPr/>
        </p:nvSpPr>
        <p:spPr>
          <a:xfrm>
            <a:off x="4446727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549" y="2294230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32527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BM25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132527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לקסיקלי (בונוס)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428439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דירוג Okapi BM25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313639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0" name="Shape 16"/>
          <p:cNvSpPr/>
          <p:nvPr/>
        </p:nvSpPr>
        <p:spPr>
          <a:xfrm>
            <a:off x="587959" y="212140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94230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73759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AlephBERT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273759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סמנטי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69671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משפט בעברית, קוסינוס צפוף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110935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6" name="Shape 21"/>
          <p:cNvSpPr/>
          <p:nvPr/>
        </p:nvSpPr>
        <p:spPr>
          <a:xfrm>
            <a:off x="6385255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077" y="4443070"/>
            <a:ext cx="294437" cy="2944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71055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· RRF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7071055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66967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הופכיים של לקסיקלי + סמנטי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2243023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32" name="Shape 26"/>
          <p:cNvSpPr/>
          <p:nvPr/>
        </p:nvSpPr>
        <p:spPr>
          <a:xfrm>
            <a:off x="2517343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0165" y="4443070"/>
            <a:ext cx="294437" cy="29443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203143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· משוקלל</a:t>
            </a:r>
            <a:endParaRPr lang="en-US" sz="1800" dirty="0"/>
          </a:p>
        </p:txBody>
      </p:sp>
      <p:sp>
        <p:nvSpPr>
          <p:cNvPr id="35" name="Text 28"/>
          <p:cNvSpPr/>
          <p:nvPr/>
        </p:nvSpPr>
        <p:spPr>
          <a:xfrm>
            <a:off x="3203143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2499055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ציוני min-max: α·סמנטי + (1-α)·לקסיקלי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משלבים ומודדים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שילוב היברידי והמדדים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373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38935" y="21305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Reciprocal Rank Fusion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98855" y="2834640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7E6E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898855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b="1" i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score(d) = Σ  1 / (k + rank_i(d))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53135" y="3886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מבוסס-דירוג — לא נדרש כיול ציונים</a:t>
            </a:r>
            <a:endParaRPr lang="en-US" sz="140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מסמך שדורג גבוה ע"י אחד המודלים עולה</a:t>
            </a:r>
            <a:endParaRPr lang="en-US" sz="140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גם שילוב ציונים משוקלל (min-max)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93815" y="17373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Shape 12"/>
          <p:cNvSpPr/>
          <p:nvPr/>
        </p:nvSpPr>
        <p:spPr>
          <a:xfrm>
            <a:off x="6293815" y="205740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637" y="2230222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08215" y="21305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מדדי הערכה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430975" y="2880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214055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מסמך רלוונטי נמצא ב-top-k?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30975" y="35935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214055" y="3593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חלקי דירוג המסמך הרלוונטי הראשון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30975" y="4306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nDCG@10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214055" y="430682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מתגמל מסמכים רלוונטיים בדירוג גבוה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30975" y="50200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8214055" y="50200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דיוק ממוצע על פני כל הדירוג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430975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המדידה היא ברמת המסמך: פסקה נחשבת עבור הדף שאליו היא שייכת.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השוואת חמשת המודלים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דירוג הדדי ממוצע (MRR)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304495" y="1920240"/>
          <a:ext cx="55778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095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Hybrid-RRF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Hybrid-wtd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248095" y="5532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שורה מודגשת = הטוב ביותר. Hybrid-RRF מוביל בכל מדדי הדירוג.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הממצא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הסמנטי לבדו הפסיד. ההיברידי ניצח.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031175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323783" y="2240280"/>
            <a:ext cx="731520" cy="731520"/>
          </a:xfrm>
          <a:prstGeom prst="ellipse">
            <a:avLst/>
          </a:prstGeom>
          <a:solidFill>
            <a:srgbClr val="C2603A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1294" y="2437790"/>
            <a:ext cx="336499" cy="33649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32927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נדחתה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68919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לבדו הוא המודל החלש ביותר — MRR 0.579, 9 מתוך 40 החטאות — ואינו מנצח את הלקסיקלי אפילו בשאלות עם פער-ניסוח גבוה (R@1 0.44 מול 0.48).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263847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4556455" y="2240280"/>
            <a:ext cx="731520" cy="73152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966" y="2437790"/>
            <a:ext cx="336499" cy="3364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5599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אושרה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01591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Hybrid-RRF מוביל בכול: MRR 0.668, nDCG 0.704, והכי מעט החטאות (5/40). השילוב הוא המנצח המעשי.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6519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3"/>
          <p:cNvSpPr/>
          <p:nvPr/>
        </p:nvSpPr>
        <p:spPr>
          <a:xfrm>
            <a:off x="789127" y="2240280"/>
            <a:ext cx="731520" cy="731520"/>
          </a:xfrm>
          <a:prstGeom prst="ellipse">
            <a:avLst/>
          </a:prstGeom>
          <a:solidFill>
            <a:srgbClr val="0B6E7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638" y="2437790"/>
            <a:ext cx="336499" cy="33649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8271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מדוע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734263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המודלים נכשלים אחרת. הסמנטי מציל פראפרזות ללא מילים משותפות שהלקסיקלי לא; משולבים, נשמר הדיוק ונוסף כיסוי — משלימים, לא עדיפים.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פירוט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ומבחן פער-הניסוח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כתלות ב-k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304495" y="1874520"/>
          <a:ext cx="56692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6110935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Recall@1 לפי פער-הניסוח  (מבחן H1)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היברידי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פער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נמוך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בינוני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26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גבוה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39535" y="4160520"/>
            <a:ext cx="5257800" cy="1783080"/>
          </a:xfrm>
          <a:prstGeom prst="roundRect">
            <a:avLst>
              <a:gd name="adj" fmla="val 4103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Shape 8"/>
          <p:cNvSpPr/>
          <p:nvPr/>
        </p:nvSpPr>
        <p:spPr>
          <a:xfrm>
            <a:off x="6385255" y="443484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326" y="4587911"/>
            <a:ext cx="260787" cy="260787"/>
          </a:xfrm>
          <a:prstGeom prst="rect">
            <a:avLst/>
          </a:prstGeom>
        </p:spPr>
      </p:pic>
      <p:sp>
        <p:nvSpPr>
          <p:cNvPr id="10" name="Text 9"/>
          <p:cNvSpPr/>
          <p:nvPr/>
        </p:nvSpPr>
        <p:spPr>
          <a:xfrm>
            <a:off x="7299655" y="43434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20000"/>
              </a:lnSpc>
              <a:buNone/>
            </a:pPr>
            <a:r>
              <a:rPr lang="en-US" sz="13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בשאלות הקשות והמנוסחות-מחדש ביותר, הסמנטי אינו מקדים (0.44 מול 0.48). היתרון הסמנטי הצפוי פשוט אינו קיים במודל מדף זה.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לכל שאילתה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היכן כל מודל מנצח, שאלה אחר שאלה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results/figures/winloss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464" y="1554480"/>
            <a:ext cx="2427672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50815" y="1920240"/>
            <a:ext cx="6492240" cy="3566160"/>
          </a:xfrm>
          <a:prstGeom prst="roundRect">
            <a:avLst>
              <a:gd name="adj" fmla="val 205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5516575" y="21488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כיצד לקרוא את מפת החום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25135" y="278892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שורה היא אחת מ-40 השאלות; הצבע = דירוג המסמך הנכון הראשון (ירוק = למעלה, אדום = עמוק, אפור = הוחמץ).</a:t>
            </a:r>
            <a:endParaRPr lang="en-US" sz="145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ירוקים ואפורים מתחלפים בין העמודות — המודלים מצליחים ונכשלים בשאלות שונות.</a:t>
            </a:r>
            <a:endParaRPr lang="en-US" sz="145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אי-ההסכמה הזו היא בדיוק מה שהופך את השילוב למשתלם.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150815" y="5669280"/>
            <a:ext cx="6492240" cy="777240"/>
          </a:xfrm>
          <a:prstGeom prst="roundRect">
            <a:avLst>
              <a:gd name="adj" fmla="val 9412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Text 9"/>
          <p:cNvSpPr/>
          <p:nvPr/>
        </p:nvSpPr>
        <p:spPr>
          <a:xfrm>
            <a:off x="5379415" y="56692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החטאות (מסמך האמת לא ב-top-10): 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6   ·   AlephBERT 9   ·   היברידי 5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ניתוח שגיאות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שלוש תבניות, דוגמאות אמיתיות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30375" y="1856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הסמנטי מנצח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630375" y="22951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מקרים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16575" y="18562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”חייבים להגיע ללשכת התעסוקה כל הזמן?“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16575" y="2350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התייצבות בשירות התעסוקה.  אפס מילים משותפות → לקסיקלי דירוג 4, סמנטי דירוג 1.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8815" y="317296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5" name="Shape 12"/>
          <p:cNvSpPr/>
          <p:nvPr/>
        </p:nvSpPr>
        <p:spPr>
          <a:xfrm>
            <a:off x="624535" y="353872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7" y="3711550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30375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הלקסיקלי מנצח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630375" y="3776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מקרים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516575" y="3337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”כיסא גלגלים ומכשירי שיקום?“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516575" y="38313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אביזרי ומכשירי שיקום.  מונח מדויק וחד → לקסיקלי דירוג 1, סמנטי מחמיץ.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78815" y="465429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2" name="Shape 18"/>
          <p:cNvSpPr/>
          <p:nvPr/>
        </p:nvSpPr>
        <p:spPr>
          <a:xfrm>
            <a:off x="624535" y="5020056"/>
            <a:ext cx="640080" cy="640080"/>
          </a:xfrm>
          <a:prstGeom prst="ellipse">
            <a:avLst/>
          </a:prstGeom>
          <a:solidFill>
            <a:srgbClr val="8A8F9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7" y="5192878"/>
            <a:ext cx="294437" cy="29443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30375" y="48188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שניהם נכשלים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1630375" y="5257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15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מקרים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516575" y="481888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”איך מקבלים קצבת נכות?“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516575" y="531266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הדף הקרוב ביותר הוא קצרמר של ביטוח לאומי, מוצף בדפי ”קביעת נכות“ ספציפיים.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בתוך המודל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כך נראה מרחב ההטמעות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results/figures/embedding_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97115" y="1691640"/>
            <a:ext cx="578509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88175" y="2103120"/>
            <a:ext cx="4754880" cy="3108960"/>
          </a:xfrm>
          <a:prstGeom prst="roundRect">
            <a:avLst>
              <a:gd name="adj" fmla="val 2353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6"/>
          <p:cNvSpPr/>
          <p:nvPr/>
        </p:nvSpPr>
        <p:spPr>
          <a:xfrm>
            <a:off x="7025335" y="24231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57" y="2595982"/>
            <a:ext cx="294437" cy="29443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48295" y="24871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t-SNE של וקטורי הפסקאות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53935" y="31089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AlephBERT מוטלות ל-2 ממדים, צבועות לפי תחום חיים.</a:t>
            </a:r>
            <a:endParaRPr lang="en-US" sz="13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התחומים יוצרים אשכולות — המודל אכן לוכד משמעות נושאית.</a:t>
            </a:r>
            <a:endParaRPr lang="en-US" sz="13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אך האשכולות חופפים, ולכן דירוג עדין עדיין זקוק לאות הלקסיקלי.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הפרויקט מראה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7881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78912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2372319"/>
            <a:ext cx="302849" cy="3028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8465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IR עברי מלא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227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קורפוס שנאסף עצמאית → עיבוד מקדים → 5 מאחזרים → הערכה קפדנית, ניתן לשחזור מלא.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0237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641268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2372319"/>
            <a:ext cx="302849" cy="3028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821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ההיברידי הוא ההמלצה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648583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היחיד שמנצח את שני קווי הבסיס בכל מדדי הדירוג.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7881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3"/>
          <p:cNvSpPr/>
          <p:nvPr/>
        </p:nvSpPr>
        <p:spPr>
          <a:xfrm>
            <a:off x="78912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887" y="4521159"/>
            <a:ext cx="302849" cy="3028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8465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מדף ≠ ניצחון חינם</a:t>
            </a:r>
            <a:endParaRPr lang="en-US" sz="1750" dirty="0"/>
          </a:p>
        </p:txBody>
      </p:sp>
      <p:sp>
        <p:nvSpPr>
          <p:cNvPr id="20" name="Text 15"/>
          <p:cNvSpPr/>
          <p:nvPr/>
        </p:nvSpPr>
        <p:spPr>
          <a:xfrm>
            <a:off x="86227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מקודד עברי מבוסס masked-LM הוא משלים שימושי, לא שדרוג מיידי לאחזור.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20237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2" name="Shape 17"/>
          <p:cNvSpPr/>
          <p:nvPr/>
        </p:nvSpPr>
        <p:spPr>
          <a:xfrm>
            <a:off x="641268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0447" y="4521159"/>
            <a:ext cx="302849" cy="3028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821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המשך</a:t>
            </a:r>
            <a:endParaRPr lang="en-US" sz="1750" dirty="0"/>
          </a:p>
        </p:txBody>
      </p:sp>
      <p:sp>
        <p:nvSpPr>
          <p:cNvPr id="25" name="Text 19"/>
          <p:cNvSpPr/>
          <p:nvPr/>
        </p:nvSpPr>
        <p:spPr>
          <a:xfrm>
            <a:off x="648583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מכוון-אחזור (E5), למטיזציה עברית, וסט הערכה גדול ומדורג יותר.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אחראי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אתיקה ומגבלות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89127" y="210312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2280879"/>
            <a:ext cx="302849" cy="3028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8465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נתונים ציבוריים ומורשים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1655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כל-זכות (CC-BY-SA) + מידע ציבורי של ביטוח לאומי. ללא מידע אישי, ללא סריקת תוכן משתמשים.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0237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Shape 10"/>
          <p:cNvSpPr/>
          <p:nvPr/>
        </p:nvSpPr>
        <p:spPr>
          <a:xfrm>
            <a:off x="6412687" y="2103120"/>
            <a:ext cx="658368" cy="658368"/>
          </a:xfrm>
          <a:prstGeom prst="ellipse">
            <a:avLst/>
          </a:prstGeom>
          <a:solidFill>
            <a:srgbClr val="E0852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2280879"/>
            <a:ext cx="302849" cy="3028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0821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אינו ייעוץ משפטי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4011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אב-טיפוס מחקרי. שימוש אמיתי חייב להציג קישורי מקור ולהפנות לרשות המוסמכת.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7881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8" name="Shape 14"/>
          <p:cNvSpPr/>
          <p:nvPr/>
        </p:nvSpPr>
        <p:spPr>
          <a:xfrm>
            <a:off x="78912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887" y="4429719"/>
            <a:ext cx="302849" cy="3028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8465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הטיה וכיסוי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1655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שישה תחומים בלבד; המורפולוגיה העברית פוגעת בלקסיקלי; ל-AlephBERT ייתכנו הטיות מקדם-אימון.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0237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3" name="Shape 18"/>
          <p:cNvSpPr/>
          <p:nvPr/>
        </p:nvSpPr>
        <p:spPr>
          <a:xfrm>
            <a:off x="641268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0447" y="4429719"/>
            <a:ext cx="302849" cy="30284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0821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סט הערכה קטן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644011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שאלות, מתייג יחיד: מצביע על מגמה, אך אינו מובהק סטטיסטית.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493776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9357055" y="448056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8899855" y="402336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8442655" y="356616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082735" y="731520"/>
            <a:ext cx="777240" cy="77724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941375"/>
            <a:ext cx="357530" cy="3575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3135" y="201168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תודה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53135" y="2971800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20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53135" y="3703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github.com/YanikGotie/hebrew-rights-retrieval   · 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53135" y="448056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807415" y="48006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7" y="4973422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76095" y="4846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גילוי שימוש ב-AI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630375" y="528523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lnSpc>
                <a:spcPct val="110000"/>
              </a:lnSpc>
              <a:buNone/>
            </a:pPr>
            <a:r>
              <a:rPr lang="en-US" sz="125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נעשה שימוש בעוזר AI ככלי לכתיבת קוד (תבניות, תיעוד, ניפוי שגיאות). תכנון המחקר, הנתונים, סט ההערכה והמסקנות הם של המחבר; כל הקוד נבדק והובן.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1488</Words>
  <Application>Microsoft Macintosh PowerPoint</Application>
  <PresentationFormat>Widescreen</PresentationFormat>
  <Paragraphs>326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Hebrew Semantic Rights Retrieval</dc:title>
  <dc:subject>PptxGenJS Presentation</dc:subject>
  <dc:creator>Yanik Gotie</dc:creator>
  <cp:lastModifiedBy>Yanik Gotie</cp:lastModifiedBy>
  <cp:revision>2</cp:revision>
  <dcterms:created xsi:type="dcterms:W3CDTF">2026-06-27T19:14:42Z</dcterms:created>
  <dcterms:modified xsi:type="dcterms:W3CDTF">2026-06-28T11:03:55Z</dcterms:modified>
</cp:coreProperties>
</file>